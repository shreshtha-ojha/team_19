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176009-eb2e-a1c1-cd00-e91410be009c}">
          <p14:sldIdLst>
            <p14:sldId id="256"/>
            <p14:sldId id="257"/>
            <p14:sldId id="258"/>
            <p14:sldId id="259"/>
          </p14:sldIdLst>
        </p14:section>
        <p14:section name="Dataset &amp; Setup" id="{92705cdb-dd7b-9e81-c872-5b7ff934ec6c}">
          <p14:sldIdLst>
            <p14:sldId id="260"/>
            <p14:sldId id="261"/>
          </p14:sldIdLst>
        </p14:section>
        <p14:section name="Traditional Techniques" id="{5fb64acc-c42d-06b3-d2db-76bf52630ad0}">
          <p14:sldIdLst>
            <p14:sldId id="262"/>
            <p14:sldId id="263"/>
            <p14:sldId id="264"/>
            <p14:sldId id="265"/>
            <p14:sldId id="266"/>
          </p14:sldIdLst>
        </p14:section>
        <p14:section name="Deep Learning" id="{41d2799e-1592-6caf-788a-96f8c010561e}">
          <p14:sldIdLst>
            <p14:sldId id="267"/>
            <p14:sldId id="268"/>
            <p14:sldId id="269"/>
            <p14:sldId id="270"/>
            <p14:sldId id="271"/>
          </p14:sldIdLst>
        </p14:section>
        <p14:section name="Results" id="{0bdb3b46-b325-244f-9550-43d5bd1cb74a}">
          <p14:sldIdLst>
            <p14:sldId id="272"/>
            <p14:sldId id="273"/>
            <p14:sldId id="274"/>
          </p14:sldIdLst>
        </p14:section>
        <p14:section name="Conclusion" id="{8fb70cec-0f3a-81fe-153f-225520084d10}">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j-lt"/>
              </a:defRPr>
            </a:pPr>
            <a:r>
              <a:rPr sz="1400" b="0" i="0" u="none" strike="noStrike">
                <a:solidFill>
                  <a:srgbClr val="1B2333"/>
                </a:solidFill>
                <a:latin typeface="+mj-lt"/>
              </a:rPr>
              <a:t>Transfer curve</a:t>
            </a:r>
          </a:p>
        </c:rich>
      </c:tx>
      <c:layout/>
      <c:overlay val="0"/>
    </c:title>
    <c:autoTitleDeleted val="0"/>
    <c:plotArea>
      <c:layout/>
      <c:lineChart>
        <c:varyColors val="0"/>
        <c:ser>
          <c:idx val="0"/>
          <c:order val="0"/>
          <c:tx>
            <c:strRef>
              <c:f>Sheet1!$B$1</c:f>
              <c:strCache>
                <c:ptCount val="1"/>
                <c:pt idx="0">
                  <c:v>γ = 0.6</c:v>
                </c:pt>
              </c:strCache>
            </c:strRef>
          </c:tx>
          <c:spPr>
            <a:solidFill>
              <a:srgbClr val="F2A93B"/>
            </a:solidFill>
            <a:ln w="38100" cap="flat">
              <a:solidFill>
                <a:srgbClr val="F2A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A93B"/>
              </a:solidFill>
              <a:ln w="9525" cap="flat">
                <a:solidFill>
                  <a:srgbClr val="F2A93B"/>
                </a:solidFill>
                <a:prstDash val="solid"/>
                <a:round/>
              </a:ln>
              <a:effectLst/>
            </c:spPr>
          </c:marker>
          <c:cat>
            <c:multiLvlStrRef>
              <c:f>Sheet1!$A$2:$A$22</c:f>
              <c:multiLvlStrCache>
                <c:ptCount val="21"/>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lvl>
              </c:multiLvlStrCache>
            </c:multiLvlStrRef>
          </c:cat>
          <c:val>
            <c:numRef>
              <c:f>Sheet1!$B$2:$B$22</c:f>
              <c:numCache>
                <c:formatCode>General</c:formatCode>
                <c:ptCount val="21"/>
                <c:pt idx="0">
                  <c:v>0</c:v>
                </c:pt>
                <c:pt idx="1">
                  <c:v>0.166</c:v>
                </c:pt>
                <c:pt idx="2">
                  <c:v>0.251</c:v>
                </c:pt>
                <c:pt idx="3">
                  <c:v>0.32</c:v>
                </c:pt>
                <c:pt idx="4">
                  <c:v>0.381</c:v>
                </c:pt>
                <c:pt idx="5">
                  <c:v>0.435</c:v>
                </c:pt>
                <c:pt idx="6">
                  <c:v>0.486</c:v>
                </c:pt>
                <c:pt idx="7">
                  <c:v>0.533</c:v>
                </c:pt>
                <c:pt idx="8">
                  <c:v>0.577</c:v>
                </c:pt>
                <c:pt idx="9">
                  <c:v>0.619</c:v>
                </c:pt>
                <c:pt idx="10">
                  <c:v>0.66</c:v>
                </c:pt>
                <c:pt idx="11">
                  <c:v>0.699</c:v>
                </c:pt>
                <c:pt idx="12">
                  <c:v>0.736</c:v>
                </c:pt>
                <c:pt idx="13">
                  <c:v>0.772</c:v>
                </c:pt>
                <c:pt idx="14">
                  <c:v>0.807</c:v>
                </c:pt>
                <c:pt idx="15">
                  <c:v>0.841</c:v>
                </c:pt>
                <c:pt idx="16">
                  <c:v>0.875</c:v>
                </c:pt>
                <c:pt idx="17">
                  <c:v>0.907</c:v>
                </c:pt>
                <c:pt idx="18">
                  <c:v>0.939</c:v>
                </c:pt>
                <c:pt idx="19">
                  <c:v>0.97</c:v>
                </c:pt>
                <c:pt idx="20">
                  <c:v>1</c:v>
                </c:pt>
              </c:numCache>
            </c:numRef>
          </c:val>
          <c:smooth val="0"/>
        </c:ser>
        <c:ser>
          <c:idx val="1"/>
          <c:order val="1"/>
          <c:tx>
            <c:strRef>
              <c:f>Sheet1!$C$1</c:f>
              <c:strCache>
                <c:ptCount val="1"/>
                <c:pt idx="0">
                  <c:v>Identity (no change)</c:v>
                </c:pt>
              </c:strCache>
            </c:strRef>
          </c:tx>
          <c:spPr>
            <a:solidFill>
              <a:srgbClr val="4A6FA5"/>
            </a:solidFill>
            <a:ln w="38100" cap="flat">
              <a:solidFill>
                <a:srgbClr val="4A6FA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A6FA5"/>
              </a:solidFill>
              <a:ln w="9525" cap="flat">
                <a:solidFill>
                  <a:srgbClr val="4A6FA5"/>
                </a:solidFill>
                <a:prstDash val="solid"/>
                <a:round/>
              </a:ln>
              <a:effectLst/>
            </c:spPr>
          </c:marker>
          <c:cat>
            <c:multiLvlStrRef>
              <c:f>Sheet1!$A$2:$A$22</c:f>
              <c:multiLvlStrCache>
                <c:ptCount val="21"/>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pt idx="17">
                    <c:v>0.85</c:v>
                  </c:pt>
                  <c:pt idx="18">
                    <c:v>0.90</c:v>
                  </c:pt>
                  <c:pt idx="19">
                    <c:v>0.95</c:v>
                  </c:pt>
                  <c:pt idx="20">
                    <c:v>1.00</c:v>
                  </c:pt>
                </c:lvl>
              </c:multiLvlStrCache>
            </c:multiLvlStrRef>
          </c:cat>
          <c:val>
            <c:numRef>
              <c:f>Sheet1!$C$2:$C$22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577"/>
                    </a:solidFill>
                    <a:latin typeface="Arial"/>
                  </a:defRPr>
                </a:pPr>
                <a:r>
                  <a:rPr sz="1100" b="0" i="0" u="none" strike="noStrike">
                    <a:solidFill>
                      <a:srgbClr val="5B6577"/>
                    </a:solidFill>
                    <a:latin typeface="Arial"/>
                  </a:rPr>
                  <a:t>Input intensity</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2"/>
        <c:crosses val="autoZero"/>
        <c:auto val="1"/>
        <c:lblAlgn val="ctr"/>
        <c:noMultiLvlLbl val="1"/>
        <c:tickLblSkip val="5"/>
      </c:catAx>
      <c:valAx>
        <c:axId val="2094734552"/>
        <c:scaling>
          <c:orientation val="minMax"/>
          <c:max val="1"/>
          <c:min val="0"/>
        </c:scaling>
        <c:delete val="0"/>
        <c:axPos val="l"/>
        <c:majorGridlines>
          <c:spPr>
            <a:ln w="6350" cap="flat">
              <a:solidFill>
                <a:srgbClr val="D5DCE6"/>
              </a:solidFill>
              <a:prstDash val="solid"/>
              <a:round/>
            </a:ln>
          </c:spPr>
        </c:majorGridlines>
        <c:title>
          <c:tx>
            <c:rich>
              <a:bodyPr/>
              <a:lstStyle/>
              <a:p>
                <a:pPr>
                  <a:defRPr sz="1100" b="0" i="0" u="none" strike="noStrike">
                    <a:solidFill>
                      <a:srgbClr val="5B6577"/>
                    </a:solidFill>
                    <a:latin typeface="Arial"/>
                  </a:defRPr>
                </a:pPr>
                <a:r>
                  <a:rPr sz="1100" b="0" i="0" u="none" strike="noStrike">
                    <a:solidFill>
                      <a:srgbClr val="5B6577"/>
                    </a:solidFill>
                    <a:latin typeface="Arial"/>
                  </a:rPr>
                  <a:t>Output intensity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57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33"/>
                </a:solidFill>
                <a:latin typeface="+mj-lt"/>
              </a:defRPr>
            </a:pPr>
            <a:r>
              <a:rPr sz="1300" b="0" i="0" u="none" strike="noStrike">
                <a:solidFill>
                  <a:srgbClr val="1B2333"/>
                </a:solidFill>
                <a:latin typeface="+mj-lt"/>
              </a:rPr>
              <a:t>Before: piled in the darks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1E35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9</c:v>
                </c:pt>
                <c:pt idx="1">
                  <c:v>14</c:v>
                </c:pt>
                <c:pt idx="2">
                  <c:v>11</c:v>
                </c:pt>
                <c:pt idx="3">
                  <c:v>6</c:v>
                </c:pt>
                <c:pt idx="4">
                  <c:v>3</c:v>
                </c:pt>
                <c:pt idx="5">
                  <c:v>1.5</c:v>
                </c:pt>
                <c:pt idx="6">
                  <c:v>0.8</c:v>
                </c:pt>
                <c:pt idx="7">
                  <c:v>0.4</c:v>
                </c:pt>
                <c:pt idx="8">
                  <c:v>0.2</c:v>
                </c:pt>
                <c:pt idx="9">
                  <c:v>0.1</c:v>
                </c:pt>
                <c:pt idx="10">
                  <c:v>0.05</c:v>
                </c:pt>
                <c:pt idx="11">
                  <c:v>0.05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33"/>
                </a:solidFill>
                <a:latin typeface="+mj-lt"/>
              </a:defRPr>
            </a:pPr>
            <a:r>
              <a:rPr sz="1300" b="0" i="0" u="none" strike="noStrike">
                <a:solidFill>
                  <a:srgbClr val="1B2333"/>
                </a:solidFill>
                <a:latin typeface="+mj-lt"/>
              </a:rPr>
              <a:t>After: spread out</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F2A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3.6</c:v>
                </c:pt>
                <c:pt idx="1">
                  <c:v>3.9</c:v>
                </c:pt>
                <c:pt idx="2">
                  <c:v>3.7</c:v>
                </c:pt>
                <c:pt idx="3">
                  <c:v>4</c:v>
                </c:pt>
                <c:pt idx="4">
                  <c:v>3.8</c:v>
                </c:pt>
                <c:pt idx="5">
                  <c:v>3.9</c:v>
                </c:pt>
                <c:pt idx="6">
                  <c:v>3.6</c:v>
                </c:pt>
                <c:pt idx="7">
                  <c:v>4.1</c:v>
                </c:pt>
                <c:pt idx="8">
                  <c:v>3.8</c:v>
                </c:pt>
                <c:pt idx="9">
                  <c:v>3.7</c:v>
                </c:pt>
                <c:pt idx="10">
                  <c:v>4</c:v>
                </c:pt>
                <c:pt idx="11">
                  <c:v>3.9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2333"/>
                </a:solidFill>
                <a:latin typeface="+mj-lt"/>
              </a:defRPr>
            </a:pPr>
            <a:r>
              <a:rPr sz="1500" b="0" i="0" u="none" strike="noStrike">
                <a:solidFill>
                  <a:srgbClr val="1B2333"/>
                </a:solidFill>
                <a:latin typeface="+mj-lt"/>
              </a:rPr>
              <a:t>PSNR (dB) — higher is better</a:t>
            </a:r>
          </a:p>
        </c:rich>
      </c:tx>
      <c:layout/>
      <c:overlay val="0"/>
    </c:title>
    <c:autoTitleDeleted val="0"/>
    <c:plotArea>
      <c:layout/>
      <c:barChart>
        <c:barDir val="bar"/>
        <c:grouping val="clustered"/>
        <c:varyColors val="0"/>
        <c:ser>
          <c:idx val="0"/>
          <c:order val="0"/>
          <c:tx>
            <c:strRef>
              <c:f>Sheet1!$B$1</c:f>
              <c:strCache>
                <c:ptCount val="1"/>
                <c:pt idx="0">
                  <c:v>PSNR</c:v>
                </c:pt>
              </c:strCache>
            </c:strRef>
          </c:tx>
          <c:spPr>
            <a:solidFill>
              <a:srgbClr val="F2A93B"/>
            </a:solidFill>
            <a:effectLst/>
          </c:spPr>
          <c:invertIfNegative val="0"/>
          <c:dLbls>
            <c:numFmt formatCode="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F2A93B"/>
              </a:solidFill>
              <a:effectLst/>
            </c:spPr>
          </c:dPt>
          <c:dPt>
            <c:idx val="1"/>
            <c:invertIfNegative val="0"/>
            <c:bubble3D val="0"/>
            <c:spPr>
              <a:solidFill>
                <a:srgbClr val="4A6FA5"/>
              </a:solidFill>
              <a:effectLst/>
            </c:spPr>
          </c:dPt>
          <c:dPt>
            <c:idx val="2"/>
            <c:invertIfNegative val="0"/>
            <c:bubble3D val="0"/>
            <c:spPr>
              <a:solidFill>
                <a:srgbClr val="4A6FA5"/>
              </a:solidFill>
              <a:effectLst/>
            </c:spPr>
          </c:dPt>
          <c:dPt>
            <c:idx val="3"/>
            <c:invertIfNegative val="0"/>
            <c:bubble3D val="0"/>
            <c:spPr>
              <a:solidFill>
                <a:srgbClr val="4A6FA5"/>
              </a:solidFill>
              <a:effectLst/>
            </c:spPr>
          </c:dPt>
          <c:dPt>
            <c:idx val="4"/>
            <c:invertIfNegative val="0"/>
            <c:bubble3D val="0"/>
            <c:spPr>
              <a:solidFill>
                <a:srgbClr val="4A6FA5"/>
              </a:solidFill>
              <a:effectLst/>
            </c:spPr>
          </c:dPt>
          <c:dPt>
            <c:idx val="5"/>
            <c:invertIfNegative val="0"/>
            <c:bubble3D val="0"/>
            <c:spPr>
              <a:solidFill>
                <a:srgbClr val="4A6FA5"/>
              </a:solidFill>
              <a:effectLst/>
            </c:spPr>
          </c:dPt>
          <c:cat>
            <c:multiLvlStrRef>
              <c:f>Sheet1!$A$2:$A$7</c:f>
              <c:multiLvlStrCache>
                <c:ptCount val="6"/>
                <c:lvl>
                  <c:pt idx="0">
                    <c:v>U-Net</c:v>
                  </c:pt>
                  <c:pt idx="1">
                    <c:v>MSR</c:v>
                  </c:pt>
                  <c:pt idx="2">
                    <c:v>HE</c:v>
                  </c:pt>
                  <c:pt idx="3">
                    <c:v>SSR</c:v>
                  </c:pt>
                  <c:pt idx="4">
                    <c:v>Gamma</c:v>
                  </c:pt>
                  <c:pt idx="5">
                    <c:v>CLAHE</c:v>
                  </c:pt>
                </c:lvl>
              </c:multiLvlStrCache>
            </c:multiLvlStrRef>
          </c:cat>
          <c:val>
            <c:numRef>
              <c:f>Sheet1!$B$2:$B$7</c:f>
              <c:numCache>
                <c:formatCode>General</c:formatCode>
                <c:ptCount val="6"/>
                <c:pt idx="0">
                  <c:v>18.3099</c:v>
                </c:pt>
                <c:pt idx="1">
                  <c:v>14.8663</c:v>
                </c:pt>
                <c:pt idx="2">
                  <c:v>14.2356</c:v>
                </c:pt>
                <c:pt idx="3">
                  <c:v>13.7931</c:v>
                </c:pt>
                <c:pt idx="4">
                  <c:v>10.6168</c:v>
                </c:pt>
                <c:pt idx="5">
                  <c:v>9.6272</c:v>
                </c:pt>
              </c:numCache>
            </c:numRef>
          </c:val>
        </c:ser>
        <c:dLbls>
          <c:numFmt formatCode="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B2333"/>
                </a:solidFill>
                <a:latin typeface="+mj-lt"/>
              </a:defRPr>
            </a:pPr>
            <a:r>
              <a:rPr sz="1500" b="0" i="0" u="none" strike="noStrike">
                <a:solidFill>
                  <a:srgbClr val="1B2333"/>
                </a:solidFill>
                <a:latin typeface="+mj-lt"/>
              </a:rPr>
              <a:t>SSIM — closer to 1 is better</a:t>
            </a:r>
          </a:p>
        </c:rich>
      </c:tx>
      <c:layout/>
      <c:overlay val="0"/>
    </c:title>
    <c:autoTitleDeleted val="0"/>
    <c:plotArea>
      <c:layout/>
      <c:barChart>
        <c:barDir val="bar"/>
        <c:grouping val="clustered"/>
        <c:varyColors val="0"/>
        <c:ser>
          <c:idx val="0"/>
          <c:order val="0"/>
          <c:tx>
            <c:strRef>
              <c:f>Sheet1!$B$1</c:f>
              <c:strCache>
                <c:ptCount val="1"/>
                <c:pt idx="0">
                  <c:v>SSIM</c:v>
                </c:pt>
              </c:strCache>
            </c:strRef>
          </c:tx>
          <c:spPr>
            <a:solidFill>
              <a:srgbClr val="F2A93B"/>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F2A93B"/>
              </a:solidFill>
              <a:effectLst/>
            </c:spPr>
          </c:dPt>
          <c:dPt>
            <c:idx val="1"/>
            <c:invertIfNegative val="0"/>
            <c:bubble3D val="0"/>
            <c:spPr>
              <a:solidFill>
                <a:srgbClr val="4A6FA5"/>
              </a:solidFill>
              <a:effectLst/>
            </c:spPr>
          </c:dPt>
          <c:dPt>
            <c:idx val="2"/>
            <c:invertIfNegative val="0"/>
            <c:bubble3D val="0"/>
            <c:spPr>
              <a:solidFill>
                <a:srgbClr val="4A6FA5"/>
              </a:solidFill>
              <a:effectLst/>
            </c:spPr>
          </c:dPt>
          <c:dPt>
            <c:idx val="3"/>
            <c:invertIfNegative val="0"/>
            <c:bubble3D val="0"/>
            <c:spPr>
              <a:solidFill>
                <a:srgbClr val="4A6FA5"/>
              </a:solidFill>
              <a:effectLst/>
            </c:spPr>
          </c:dPt>
          <c:dPt>
            <c:idx val="4"/>
            <c:invertIfNegative val="0"/>
            <c:bubble3D val="0"/>
            <c:spPr>
              <a:solidFill>
                <a:srgbClr val="4A6FA5"/>
              </a:solidFill>
              <a:effectLst/>
            </c:spPr>
          </c:dPt>
          <c:dPt>
            <c:idx val="5"/>
            <c:invertIfNegative val="0"/>
            <c:bubble3D val="0"/>
            <c:spPr>
              <a:solidFill>
                <a:srgbClr val="4A6FA5"/>
              </a:solidFill>
              <a:effectLst/>
            </c:spPr>
          </c:dPt>
          <c:cat>
            <c:multiLvlStrRef>
              <c:f>Sheet1!$A$2:$A$7</c:f>
              <c:multiLvlStrCache>
                <c:ptCount val="6"/>
                <c:lvl>
                  <c:pt idx="0">
                    <c:v>U-Net</c:v>
                  </c:pt>
                  <c:pt idx="1">
                    <c:v>MSR</c:v>
                  </c:pt>
                  <c:pt idx="2">
                    <c:v>HE</c:v>
                  </c:pt>
                  <c:pt idx="3">
                    <c:v>SSR</c:v>
                  </c:pt>
                  <c:pt idx="4">
                    <c:v>Gamma</c:v>
                  </c:pt>
                  <c:pt idx="5">
                    <c:v>CLAHE</c:v>
                  </c:pt>
                </c:lvl>
              </c:multiLvlStrCache>
            </c:multiLvlStrRef>
          </c:cat>
          <c:val>
            <c:numRef>
              <c:f>Sheet1!$B$2:$B$7</c:f>
              <c:numCache>
                <c:formatCode>General</c:formatCode>
                <c:ptCount val="6"/>
                <c:pt idx="0">
                  <c:v>0.7797</c:v>
                </c:pt>
                <c:pt idx="1">
                  <c:v>0.584</c:v>
                </c:pt>
                <c:pt idx="2">
                  <c:v>0.4252</c:v>
                </c:pt>
                <c:pt idx="3">
                  <c:v>0.5875</c:v>
                </c:pt>
                <c:pt idx="4">
                  <c:v>0.4726</c:v>
                </c:pt>
                <c:pt idx="5">
                  <c:v>0.3995</c:v>
                </c:pt>
              </c:numCache>
            </c:numRef>
          </c:val>
        </c:ser>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making dark photos look like they were taken in good light, comparing classical image processing with a deep learning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low-light images are a problem, using the sample image from the LOL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implement, train, evaluate,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branches from one input, both evaluated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LOL dataset gives paired images, which makes supervised training and PSNR/SSIM evaluation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steps in the notebook before any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Gamma raises every pixel to the power 0.6. The amber curve sits above the identity line, so every pixel gets brighter, dark ones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uses the cumulative histogram as the mapping. The histograms here are schematic,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CLAHE fixes HE's global problem by working tile by tile. It scored lowest here because it improves local contrast but barely raises overall brightness, so it stays far from the bright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Retinex theory: what we see is illumination times reflectance. Blur estimates illumination; removing it leaves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MSR combines three SSR outputs, so it handles both small details and broad 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boxes are the spatial augmentations. Applying the same crop and flip to both images is essential, otherwise the target no longer matches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 halves resolution at each level while doubling channels. Decoder upsamples back. Skip connections copy fine detail across, which is why U-Net keeps edges sharp. Exact parameter count is 7,760,163.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SSIM is implemented with average pooling over 11x11 windows, constants c1 = 0.01 squared and c2 = 0.03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Cosine annealing smoothly lowers the learning rate over the 50 epochs. Be clear that 0.1840 is a training loss, not a test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notebook outputs. The preview is a training crop, so it shows learning progress, not test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numbers: U-Net 18.3099 / 0.7797; MSR 14.8663 / 0.5840; HE 14.2356 / 0.4252; SSR 13.7931 / 0.5875; Gamma 10.6168 / 0.4726; CLAHE 9.6272 / 0.3995.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ranking depends on the metric: SSR beats MSR on SSIM, HE beats SSR on PSNR but not SSIM.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limitations yourself shows you understand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one breath: learned beats hand-crafted on this benchmark, Retinex is the best classical family, then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Low-Light Image Enhancement  |  IPCV Course Project</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11064240"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IMAGE PROCESSING &amp; COMPUTER VISION  ·  COURSE PROJECT</a:t>
            </a:r>
            <a:endParaRPr lang="en-US" sz="1300" dirty="0"/>
          </a:p>
        </p:txBody>
      </p:sp>
      <p:sp>
        <p:nvSpPr>
          <p:cNvPr id="3" name="Text 1"/>
          <p:cNvSpPr txBox="1"/>
          <p:nvPr/>
        </p:nvSpPr>
        <p:spPr>
          <a:xfrm>
            <a:off x="548640" y="1417320"/>
            <a:ext cx="10058400" cy="201168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Low-Light Image Enhancement using Spatial and Intensity-Based Techniques</a:t>
            </a:r>
            <a:endParaRPr lang="en-US" sz="4400" dirty="0"/>
          </a:p>
        </p:txBody>
      </p:sp>
      <p:sp>
        <p:nvSpPr>
          <p:cNvPr id="4" name="Text 2"/>
          <p:cNvSpPr txBox="1"/>
          <p:nvPr/>
        </p:nvSpPr>
        <p:spPr>
          <a:xfrm>
            <a:off x="548640" y="3931920"/>
            <a:ext cx="11064240" cy="365760"/>
          </a:xfrm>
          <a:prstGeom prst="rect">
            <a:avLst/>
          </a:prstGeom>
          <a:noFill/>
          <a:ln/>
        </p:spPr>
        <p:txBody>
          <a:bodyPr wrap="square" lIns="0" tIns="0" rIns="0" bIns="0" rtlCol="0" anchor="ctr"/>
          <a:lstStyle/>
          <a:p>
            <a:pPr indent="0" marL="0">
              <a:buNone/>
            </a:pPr>
            <a:r>
              <a:rPr lang="en-US" sz="1500" dirty="0">
                <a:solidFill>
                  <a:schemeClr val="accent4"/>
                </a:solidFill>
              </a:rPr>
              <a:t>Department of Computer Science &amp; Engineering, MNNIT Allahabad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problem with low-light images</a:t>
            </a:r>
            <a:endParaRPr lang="en-US" sz="3200" dirty="0"/>
          </a:p>
        </p:txBody>
      </p:sp>
      <p:sp>
        <p:nvSpPr>
          <p:cNvPr id="3" name="Shape 1"/>
          <p:cNvSpPr/>
          <p:nvPr/>
        </p:nvSpPr>
        <p:spPr>
          <a:xfrm>
            <a:off x="548640" y="15087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234440" y="1417320"/>
            <a:ext cx="4754880" cy="777240"/>
          </a:xfrm>
          <a:prstGeom prst="rect">
            <a:avLst/>
          </a:prstGeom>
          <a:noFill/>
          <a:ln/>
        </p:spPr>
        <p:txBody>
          <a:bodyPr wrap="square" lIns="0" tIns="0" rIns="0" bIns="0" rtlCol="0" anchor="t"/>
          <a:lstStyle/>
          <a:p>
            <a:pPr indent="0" marL="0">
              <a:buNone/>
            </a:pPr>
            <a:r>
              <a:rPr lang="en-US" sz="1800" b="1" dirty="0">
                <a:solidFill>
                  <a:schemeClr val="tx2"/>
                </a:solidFill>
              </a:rPr>
              <a:t>Poor visibility</a:t>
            </a:r>
            <a:endParaRPr lang="en-US" sz="1800" dirty="0"/>
          </a:p>
          <a:p>
            <a:pPr indent="0" marL="0">
              <a:buNone/>
            </a:pPr>
            <a:r>
              <a:rPr lang="en-US" sz="1500" dirty="0">
                <a:solidFill>
                  <a:schemeClr val="accent5"/>
                </a:solidFill>
              </a:rPr>
              <a:t>Objects and regions are hard to see</a:t>
            </a:r>
            <a:endParaRPr lang="en-US" sz="1800" dirty="0"/>
          </a:p>
        </p:txBody>
      </p:sp>
      <p:sp>
        <p:nvSpPr>
          <p:cNvPr id="6" name="Shape 4"/>
          <p:cNvSpPr/>
          <p:nvPr/>
        </p:nvSpPr>
        <p:spPr>
          <a:xfrm>
            <a:off x="548640" y="260604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8" name="Text 6"/>
          <p:cNvSpPr txBox="1"/>
          <p:nvPr/>
        </p:nvSpPr>
        <p:spPr>
          <a:xfrm>
            <a:off x="1234440" y="2514600"/>
            <a:ext cx="4754880" cy="777240"/>
          </a:xfrm>
          <a:prstGeom prst="rect">
            <a:avLst/>
          </a:prstGeom>
          <a:noFill/>
          <a:ln/>
        </p:spPr>
        <p:txBody>
          <a:bodyPr wrap="square" lIns="0" tIns="0" rIns="0" bIns="0" rtlCol="0" anchor="t"/>
          <a:lstStyle/>
          <a:p>
            <a:pPr indent="0" marL="0">
              <a:buNone/>
            </a:pPr>
            <a:r>
              <a:rPr lang="en-US" sz="1800" b="1" dirty="0">
                <a:solidFill>
                  <a:schemeClr val="tx2"/>
                </a:solidFill>
              </a:rPr>
              <a:t>Low contrast</a:t>
            </a:r>
            <a:endParaRPr lang="en-US" sz="1800" dirty="0"/>
          </a:p>
          <a:p>
            <a:pPr indent="0" marL="0">
              <a:buNone/>
            </a:pPr>
            <a:r>
              <a:rPr lang="en-US" sz="1500" dirty="0">
                <a:solidFill>
                  <a:schemeClr val="accent5"/>
                </a:solidFill>
              </a:rPr>
              <a:t>Intensities squeezed into a narrow dark range</a:t>
            </a:r>
            <a:endParaRPr lang="en-US" sz="1800" dirty="0"/>
          </a:p>
        </p:txBody>
      </p:sp>
      <p:sp>
        <p:nvSpPr>
          <p:cNvPr id="9" name="Shape 7"/>
          <p:cNvSpPr/>
          <p:nvPr/>
        </p:nvSpPr>
        <p:spPr>
          <a:xfrm>
            <a:off x="548640" y="37033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70332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1" name="Text 9"/>
          <p:cNvSpPr txBox="1"/>
          <p:nvPr/>
        </p:nvSpPr>
        <p:spPr>
          <a:xfrm>
            <a:off x="1234440" y="3611880"/>
            <a:ext cx="4754880" cy="777240"/>
          </a:xfrm>
          <a:prstGeom prst="rect">
            <a:avLst/>
          </a:prstGeom>
          <a:noFill/>
          <a:ln/>
        </p:spPr>
        <p:txBody>
          <a:bodyPr wrap="square" lIns="0" tIns="0" rIns="0" bIns="0" rtlCol="0" anchor="t"/>
          <a:lstStyle/>
          <a:p>
            <a:pPr indent="0" marL="0">
              <a:buNone/>
            </a:pPr>
            <a:r>
              <a:rPr lang="en-US" sz="1800" b="1" dirty="0">
                <a:solidFill>
                  <a:schemeClr val="tx2"/>
                </a:solidFill>
              </a:rPr>
              <a:t>Lost detail</a:t>
            </a:r>
            <a:endParaRPr lang="en-US" sz="1800" dirty="0"/>
          </a:p>
          <a:p>
            <a:pPr indent="0" marL="0">
              <a:buNone/>
            </a:pPr>
            <a:r>
              <a:rPr lang="en-US" sz="1500" dirty="0">
                <a:solidFill>
                  <a:schemeClr val="accent5"/>
                </a:solidFill>
              </a:rPr>
              <a:t>Edges and textures buried in shadow and noise</a:t>
            </a:r>
            <a:endParaRPr lang="en-US" sz="1800" dirty="0"/>
          </a:p>
        </p:txBody>
      </p:sp>
      <p:sp>
        <p:nvSpPr>
          <p:cNvPr id="12" name="Shape 10"/>
          <p:cNvSpPr/>
          <p:nvPr/>
        </p:nvSpPr>
        <p:spPr>
          <a:xfrm>
            <a:off x="548640" y="480060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800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4" name="Text 12"/>
          <p:cNvSpPr txBox="1"/>
          <p:nvPr/>
        </p:nvSpPr>
        <p:spPr>
          <a:xfrm>
            <a:off x="1234440" y="4709160"/>
            <a:ext cx="4754880" cy="777240"/>
          </a:xfrm>
          <a:prstGeom prst="rect">
            <a:avLst/>
          </a:prstGeom>
          <a:noFill/>
          <a:ln/>
        </p:spPr>
        <p:txBody>
          <a:bodyPr wrap="square" lIns="0" tIns="0" rIns="0" bIns="0" rtlCol="0" anchor="t"/>
          <a:lstStyle/>
          <a:p>
            <a:pPr indent="0" marL="0">
              <a:buNone/>
            </a:pPr>
            <a:r>
              <a:rPr lang="en-US" sz="1800" b="1" dirty="0">
                <a:solidFill>
                  <a:schemeClr val="tx2"/>
                </a:solidFill>
              </a:rPr>
              <a:t>Wrong colours</a:t>
            </a:r>
            <a:endParaRPr lang="en-US" sz="1800" dirty="0"/>
          </a:p>
          <a:p>
            <a:pPr indent="0" marL="0">
              <a:buNone/>
            </a:pPr>
            <a:r>
              <a:rPr lang="en-US" sz="1500" dirty="0">
                <a:solidFill>
                  <a:schemeClr val="accent5"/>
                </a:solidFill>
              </a:rPr>
              <a:t>Weak, shifted colour information</a:t>
            </a:r>
            <a:endParaRPr lang="en-US" sz="1800" dirty="0"/>
          </a:p>
        </p:txBody>
      </p:sp>
      <p:pic>
        <p:nvPicPr>
          <p:cNvPr id="15" name="Image 0" descr="/home/claude/work/out/sample_low.png">    </p:cNvPr>
          <p:cNvPicPr>
            <a:picLocks noChangeAspect="1"/>
          </p:cNvPicPr>
          <p:nvPr/>
        </p:nvPicPr>
        <p:blipFill>
          <a:blip r:embed="rId1"/>
          <a:stretch>
            <a:fillRect/>
          </a:stretch>
        </p:blipFill>
        <p:spPr>
          <a:xfrm>
            <a:off x="6309360" y="1417320"/>
            <a:ext cx="5303520" cy="3538728"/>
          </a:xfrm>
          <a:prstGeom prst="rect">
            <a:avLst/>
          </a:prstGeom>
        </p:spPr>
      </p:pic>
      <p:sp>
        <p:nvSpPr>
          <p:cNvPr id="16" name="Shape 13"/>
          <p:cNvSpPr/>
          <p:nvPr/>
        </p:nvSpPr>
        <p:spPr>
          <a:xfrm>
            <a:off x="6309360" y="5166360"/>
            <a:ext cx="5303520" cy="914400"/>
          </a:xfrm>
          <a:prstGeom prst="roundRect">
            <a:avLst>
              <a:gd name="adj" fmla="val 8000"/>
            </a:avLst>
          </a:prstGeom>
          <a:solidFill>
            <a:schemeClr val="bg2"/>
          </a:solidFill>
          <a:ln w="12700">
            <a:solidFill>
              <a:schemeClr val="bg2"/>
            </a:solidFill>
            <a:prstDash val="solid"/>
          </a:ln>
        </p:spPr>
      </p:sp>
      <p:sp>
        <p:nvSpPr>
          <p:cNvPr id="17" name="Text 14"/>
          <p:cNvSpPr txBox="1"/>
          <p:nvPr/>
        </p:nvSpPr>
        <p:spPr>
          <a:xfrm>
            <a:off x="6492240" y="5212080"/>
            <a:ext cx="4937760" cy="822960"/>
          </a:xfrm>
          <a:prstGeom prst="rect">
            <a:avLst/>
          </a:prstGeom>
          <a:noFill/>
          <a:ln/>
        </p:spPr>
        <p:txBody>
          <a:bodyPr wrap="square" lIns="0" tIns="0" rIns="0" bIns="0" rtlCol="0" anchor="ctr"/>
          <a:lstStyle/>
          <a:p>
            <a:pPr indent="0" marL="0">
              <a:buNone/>
            </a:pPr>
            <a:r>
              <a:rPr lang="en-US" sz="1400" dirty="0">
                <a:solidFill>
                  <a:schemeClr val="tx1"/>
                </a:solidFill>
              </a:rPr>
              <a:t>This hurts object detection, segmentation, surveillance and image analysis. Goal: turn a dark image into a bright, clear, natural one.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548640" y="1554480"/>
            <a:ext cx="2606040" cy="4206240"/>
          </a:xfrm>
          <a:prstGeom prst="roundRect">
            <a:avLst>
              <a:gd name="adj" fmla="val 2807"/>
            </a:avLst>
          </a:prstGeom>
          <a:solidFill>
            <a:schemeClr val="bg2"/>
          </a:solidFill>
          <a:ln w="12700">
            <a:solidFill>
              <a:schemeClr val="bg2"/>
            </a:solidFill>
            <a:prstDash val="solid"/>
          </a:ln>
        </p:spPr>
      </p:sp>
      <p:sp>
        <p:nvSpPr>
          <p:cNvPr id="4" name="Shape 2"/>
          <p:cNvSpPr/>
          <p:nvPr/>
        </p:nvSpPr>
        <p:spPr>
          <a:xfrm>
            <a:off x="822960" y="18745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822960" y="2651760"/>
            <a:ext cx="20574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Implement</a:t>
            </a:r>
            <a:endParaRPr lang="en-US" sz="2200" dirty="0"/>
          </a:p>
        </p:txBody>
      </p:sp>
      <p:sp>
        <p:nvSpPr>
          <p:cNvPr id="7" name="Text 5"/>
          <p:cNvSpPr txBox="1"/>
          <p:nvPr/>
        </p:nvSpPr>
        <p:spPr>
          <a:xfrm>
            <a:off x="822960" y="3291840"/>
            <a:ext cx="2057400" cy="2194560"/>
          </a:xfrm>
          <a:prstGeom prst="rect">
            <a:avLst/>
          </a:prstGeom>
          <a:noFill/>
          <a:ln/>
        </p:spPr>
        <p:txBody>
          <a:bodyPr wrap="square" lIns="0" tIns="0" rIns="0" bIns="0" rtlCol="0" anchor="t"/>
          <a:lstStyle/>
          <a:p>
            <a:pPr indent="0" marL="0">
              <a:buNone/>
            </a:pPr>
            <a:r>
              <a:rPr lang="en-US" sz="1600" dirty="0">
                <a:solidFill>
                  <a:schemeClr val="tx1"/>
                </a:solidFill>
              </a:rPr>
              <a:t>five traditional enhancement techniques: Gamma, HE, CLAHE, SSR, MSR</a:t>
            </a:r>
            <a:endParaRPr lang="en-US" sz="1600" dirty="0"/>
          </a:p>
        </p:txBody>
      </p:sp>
      <p:sp>
        <p:nvSpPr>
          <p:cNvPr id="8" name="Shape 6"/>
          <p:cNvSpPr/>
          <p:nvPr/>
        </p:nvSpPr>
        <p:spPr>
          <a:xfrm>
            <a:off x="3355848" y="1554480"/>
            <a:ext cx="2606040" cy="4206240"/>
          </a:xfrm>
          <a:prstGeom prst="roundRect">
            <a:avLst>
              <a:gd name="adj" fmla="val 2807"/>
            </a:avLst>
          </a:prstGeom>
          <a:solidFill>
            <a:schemeClr val="bg2"/>
          </a:solidFill>
          <a:ln w="12700">
            <a:solidFill>
              <a:schemeClr val="bg2"/>
            </a:solidFill>
            <a:prstDash val="solid"/>
          </a:ln>
        </p:spPr>
      </p:sp>
      <p:sp>
        <p:nvSpPr>
          <p:cNvPr id="9" name="Shape 7"/>
          <p:cNvSpPr/>
          <p:nvPr/>
        </p:nvSpPr>
        <p:spPr>
          <a:xfrm>
            <a:off x="3630168" y="187452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3630168" y="18745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1" name="Text 9"/>
          <p:cNvSpPr txBox="1"/>
          <p:nvPr/>
        </p:nvSpPr>
        <p:spPr>
          <a:xfrm>
            <a:off x="3630168" y="2651760"/>
            <a:ext cx="20574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Train</a:t>
            </a:r>
            <a:endParaRPr lang="en-US" sz="2200" dirty="0"/>
          </a:p>
        </p:txBody>
      </p:sp>
      <p:sp>
        <p:nvSpPr>
          <p:cNvPr id="12" name="Text 10"/>
          <p:cNvSpPr txBox="1"/>
          <p:nvPr/>
        </p:nvSpPr>
        <p:spPr>
          <a:xfrm>
            <a:off x="3630168" y="3291840"/>
            <a:ext cx="2057400" cy="2194560"/>
          </a:xfrm>
          <a:prstGeom prst="rect">
            <a:avLst/>
          </a:prstGeom>
          <a:noFill/>
          <a:ln/>
        </p:spPr>
        <p:txBody>
          <a:bodyPr wrap="square" lIns="0" tIns="0" rIns="0" bIns="0" rtlCol="0" anchor="t"/>
          <a:lstStyle/>
          <a:p>
            <a:pPr indent="0" marL="0">
              <a:buNone/>
            </a:pPr>
            <a:r>
              <a:rPr lang="en-US" sz="1600" dirty="0">
                <a:solidFill>
                  <a:schemeClr val="tx1"/>
                </a:solidFill>
              </a:rPr>
              <a:t>a U-Net on paired low-light / normal-light images (LOL-v1)</a:t>
            </a:r>
            <a:endParaRPr lang="en-US" sz="1600" dirty="0"/>
          </a:p>
        </p:txBody>
      </p:sp>
      <p:sp>
        <p:nvSpPr>
          <p:cNvPr id="13" name="Shape 11"/>
          <p:cNvSpPr/>
          <p:nvPr/>
        </p:nvSpPr>
        <p:spPr>
          <a:xfrm>
            <a:off x="6163056" y="1554480"/>
            <a:ext cx="2606040" cy="4206240"/>
          </a:xfrm>
          <a:prstGeom prst="roundRect">
            <a:avLst>
              <a:gd name="adj" fmla="val 2807"/>
            </a:avLst>
          </a:prstGeom>
          <a:solidFill>
            <a:schemeClr val="bg2"/>
          </a:solidFill>
          <a:ln w="12700">
            <a:solidFill>
              <a:schemeClr val="bg2"/>
            </a:solidFill>
            <a:prstDash val="solid"/>
          </a:ln>
        </p:spPr>
      </p:sp>
      <p:sp>
        <p:nvSpPr>
          <p:cNvPr id="14" name="Shape 12"/>
          <p:cNvSpPr/>
          <p:nvPr/>
        </p:nvSpPr>
        <p:spPr>
          <a:xfrm>
            <a:off x="6437376" y="18745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6437376" y="18745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6" name="Text 14"/>
          <p:cNvSpPr txBox="1"/>
          <p:nvPr/>
        </p:nvSpPr>
        <p:spPr>
          <a:xfrm>
            <a:off x="6437376" y="2651760"/>
            <a:ext cx="20574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Evaluate</a:t>
            </a:r>
            <a:endParaRPr lang="en-US" sz="2200" dirty="0"/>
          </a:p>
        </p:txBody>
      </p:sp>
      <p:sp>
        <p:nvSpPr>
          <p:cNvPr id="17" name="Text 15"/>
          <p:cNvSpPr txBox="1"/>
          <p:nvPr/>
        </p:nvSpPr>
        <p:spPr>
          <a:xfrm>
            <a:off x="6437376" y="3291840"/>
            <a:ext cx="2057400" cy="2194560"/>
          </a:xfrm>
          <a:prstGeom prst="rect">
            <a:avLst/>
          </a:prstGeom>
          <a:noFill/>
          <a:ln/>
        </p:spPr>
        <p:txBody>
          <a:bodyPr wrap="square" lIns="0" tIns="0" rIns="0" bIns="0" rtlCol="0" anchor="t"/>
          <a:lstStyle/>
          <a:p>
            <a:pPr indent="0" marL="0">
              <a:buNone/>
            </a:pPr>
            <a:r>
              <a:rPr lang="en-US" sz="1600" dirty="0">
                <a:solidFill>
                  <a:schemeClr val="tx1"/>
                </a:solidFill>
              </a:rPr>
              <a:t>every method with PSNR and SSIM on the same 15 test pairs</a:t>
            </a:r>
            <a:endParaRPr lang="en-US" sz="1600" dirty="0"/>
          </a:p>
        </p:txBody>
      </p:sp>
      <p:sp>
        <p:nvSpPr>
          <p:cNvPr id="18" name="Shape 16"/>
          <p:cNvSpPr/>
          <p:nvPr/>
        </p:nvSpPr>
        <p:spPr>
          <a:xfrm>
            <a:off x="8970264" y="1554480"/>
            <a:ext cx="2606040" cy="4206240"/>
          </a:xfrm>
          <a:prstGeom prst="roundRect">
            <a:avLst>
              <a:gd name="adj" fmla="val 2807"/>
            </a:avLst>
          </a:prstGeom>
          <a:solidFill>
            <a:schemeClr val="bg2"/>
          </a:solidFill>
          <a:ln w="12700">
            <a:solidFill>
              <a:schemeClr val="bg2"/>
            </a:solidFill>
            <a:prstDash val="solid"/>
          </a:ln>
        </p:spPr>
      </p:sp>
      <p:sp>
        <p:nvSpPr>
          <p:cNvPr id="19" name="Shape 17"/>
          <p:cNvSpPr/>
          <p:nvPr/>
        </p:nvSpPr>
        <p:spPr>
          <a:xfrm>
            <a:off x="9244584" y="187452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9244584" y="18745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1" name="Text 19"/>
          <p:cNvSpPr txBox="1"/>
          <p:nvPr/>
        </p:nvSpPr>
        <p:spPr>
          <a:xfrm>
            <a:off x="9244584" y="2651760"/>
            <a:ext cx="20574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Compare</a:t>
            </a:r>
            <a:endParaRPr lang="en-US" sz="2200" dirty="0"/>
          </a:p>
        </p:txBody>
      </p:sp>
      <p:sp>
        <p:nvSpPr>
          <p:cNvPr id="22" name="Text 20"/>
          <p:cNvSpPr txBox="1"/>
          <p:nvPr/>
        </p:nvSpPr>
        <p:spPr>
          <a:xfrm>
            <a:off x="9244584" y="3291840"/>
            <a:ext cx="2057400" cy="2194560"/>
          </a:xfrm>
          <a:prstGeom prst="rect">
            <a:avLst/>
          </a:prstGeom>
          <a:noFill/>
          <a:ln/>
        </p:spPr>
        <p:txBody>
          <a:bodyPr wrap="square" lIns="0" tIns="0" rIns="0" bIns="0" rtlCol="0" anchor="t"/>
          <a:lstStyle/>
          <a:p>
            <a:pPr indent="0" marL="0">
              <a:buNone/>
            </a:pPr>
            <a:r>
              <a:rPr lang="en-US" sz="1600" dirty="0">
                <a:solidFill>
                  <a:schemeClr val="tx1"/>
                </a:solidFill>
              </a:rPr>
              <a:t>traditional techniques against the deep learning approach</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Approach overview</a:t>
            </a:r>
            <a:endParaRPr lang="en-US" sz="3200" dirty="0"/>
          </a:p>
        </p:txBody>
      </p:sp>
      <p:sp>
        <p:nvSpPr>
          <p:cNvPr id="3" name="Shape 1"/>
          <p:cNvSpPr/>
          <p:nvPr/>
        </p:nvSpPr>
        <p:spPr>
          <a:xfrm>
            <a:off x="548640" y="2834640"/>
            <a:ext cx="1828800" cy="1188720"/>
          </a:xfrm>
          <a:prstGeom prst="roundRect">
            <a:avLst>
              <a:gd name="adj" fmla="val 6154"/>
            </a:avLst>
          </a:prstGeom>
          <a:solidFill>
            <a:schemeClr val="tx2"/>
          </a:solidFill>
          <a:ln w="12700">
            <a:solidFill>
              <a:schemeClr val="tx2"/>
            </a:solidFill>
            <a:prstDash val="solid"/>
          </a:ln>
        </p:spPr>
      </p:sp>
      <p:sp>
        <p:nvSpPr>
          <p:cNvPr id="4" name="Text 2"/>
          <p:cNvSpPr txBox="1"/>
          <p:nvPr/>
        </p:nvSpPr>
        <p:spPr>
          <a:xfrm>
            <a:off x="548640" y="2834640"/>
            <a:ext cx="1828800" cy="1188720"/>
          </a:xfrm>
          <a:prstGeom prst="rect">
            <a:avLst/>
          </a:prstGeom>
          <a:noFill/>
          <a:ln/>
        </p:spPr>
        <p:txBody>
          <a:bodyPr wrap="square" lIns="0" tIns="0" rIns="0" bIns="0" rtlCol="0" anchor="ctr"/>
          <a:lstStyle/>
          <a:p>
            <a:pPr algn="ctr" indent="0" marL="0">
              <a:buNone/>
            </a:pPr>
            <a:r>
              <a:rPr lang="en-US" sz="1500" b="1" dirty="0">
                <a:solidFill>
                  <a:schemeClr val="bg1"/>
                </a:solidFill>
              </a:rPr>
              <a:t>Low-light image</a:t>
            </a:r>
            <a:endParaRPr lang="en-US" sz="1500" dirty="0"/>
          </a:p>
          <a:p>
            <a:pPr algn="ctr" indent="0" marL="0">
              <a:buNone/>
            </a:pPr>
            <a:r>
              <a:rPr lang="en-US" sz="1500" b="1" dirty="0">
                <a:solidFill>
                  <a:schemeClr val="bg1"/>
                </a:solidFill>
              </a:rPr>
              <a:t>(LOL-v1)</a:t>
            </a:r>
            <a:endParaRPr lang="en-US" sz="1500" dirty="0"/>
          </a:p>
        </p:txBody>
      </p:sp>
      <p:sp>
        <p:nvSpPr>
          <p:cNvPr id="5" name="Shape 3"/>
          <p:cNvSpPr/>
          <p:nvPr/>
        </p:nvSpPr>
        <p:spPr>
          <a:xfrm>
            <a:off x="3108960" y="1417320"/>
            <a:ext cx="5486400" cy="1828800"/>
          </a:xfrm>
          <a:prstGeom prst="roundRect">
            <a:avLst>
              <a:gd name="adj" fmla="val 4000"/>
            </a:avLst>
          </a:prstGeom>
          <a:solidFill>
            <a:schemeClr val="bg2"/>
          </a:solidFill>
          <a:ln w="12700">
            <a:solidFill>
              <a:schemeClr val="bg2"/>
            </a:solidFill>
            <a:prstDash val="solid"/>
          </a:ln>
        </p:spPr>
      </p:sp>
      <p:sp>
        <p:nvSpPr>
          <p:cNvPr id="6" name="Text 4"/>
          <p:cNvSpPr txBox="1"/>
          <p:nvPr/>
        </p:nvSpPr>
        <p:spPr>
          <a:xfrm>
            <a:off x="3383280" y="1554480"/>
            <a:ext cx="4937760" cy="1554480"/>
          </a:xfrm>
          <a:prstGeom prst="rect">
            <a:avLst/>
          </a:prstGeom>
          <a:noFill/>
          <a:ln/>
        </p:spPr>
        <p:txBody>
          <a:bodyPr wrap="square" lIns="0" tIns="0" rIns="0" bIns="0" rtlCol="0" anchor="ctr"/>
          <a:lstStyle/>
          <a:p>
            <a:pPr indent="0" marL="0">
              <a:buNone/>
            </a:pPr>
            <a:r>
              <a:rPr lang="en-US" sz="1700" b="1" dirty="0">
                <a:solidFill>
                  <a:schemeClr val="tx2"/>
                </a:solidFill>
              </a:rPr>
              <a:t>A · Traditional (no training)</a:t>
            </a:r>
            <a:endParaRPr lang="en-US" sz="1700" dirty="0"/>
          </a:p>
          <a:p>
            <a:pPr indent="0" marL="0">
              <a:buNone/>
            </a:pPr>
            <a:r>
              <a:rPr lang="en-US" sz="1400" dirty="0">
                <a:solidFill>
                  <a:schemeClr val="tx1"/>
                </a:solidFill>
              </a:rPr>
              <a:t>Gamma Correction  ·  Histogram Equalization  ·  CLAHE  ·  Single-Scale Retinex  ·  Multi-Scale Retinex</a:t>
            </a:r>
            <a:endParaRPr lang="en-US" sz="1700" dirty="0"/>
          </a:p>
        </p:txBody>
      </p:sp>
      <p:sp>
        <p:nvSpPr>
          <p:cNvPr id="7" name="Shape 5"/>
          <p:cNvSpPr/>
          <p:nvPr/>
        </p:nvSpPr>
        <p:spPr>
          <a:xfrm>
            <a:off x="3108960" y="3611880"/>
            <a:ext cx="5486400" cy="1828800"/>
          </a:xfrm>
          <a:prstGeom prst="roundRect">
            <a:avLst>
              <a:gd name="adj" fmla="val 4000"/>
            </a:avLst>
          </a:prstGeom>
          <a:solidFill>
            <a:schemeClr val="bg2"/>
          </a:solidFill>
          <a:ln w="12700">
            <a:solidFill>
              <a:schemeClr val="bg2"/>
            </a:solidFill>
            <a:prstDash val="solid"/>
          </a:ln>
        </p:spPr>
      </p:sp>
      <p:sp>
        <p:nvSpPr>
          <p:cNvPr id="8" name="Text 6"/>
          <p:cNvSpPr txBox="1"/>
          <p:nvPr/>
        </p:nvSpPr>
        <p:spPr>
          <a:xfrm>
            <a:off x="3383280" y="3749040"/>
            <a:ext cx="4937760" cy="1554480"/>
          </a:xfrm>
          <a:prstGeom prst="rect">
            <a:avLst/>
          </a:prstGeom>
          <a:noFill/>
          <a:ln/>
        </p:spPr>
        <p:txBody>
          <a:bodyPr wrap="square" lIns="0" tIns="0" rIns="0" bIns="0" rtlCol="0" anchor="ctr"/>
          <a:lstStyle/>
          <a:p>
            <a:pPr indent="0" marL="0">
              <a:buNone/>
            </a:pPr>
            <a:r>
              <a:rPr lang="en-US" sz="1700" b="1" dirty="0">
                <a:solidFill>
                  <a:schemeClr val="tx2"/>
                </a:solidFill>
              </a:rPr>
              <a:t>B · Deep learning (supervised)</a:t>
            </a:r>
            <a:endParaRPr lang="en-US" sz="1700" dirty="0"/>
          </a:p>
          <a:p>
            <a:pPr indent="0" marL="0">
              <a:buNone/>
            </a:pPr>
            <a:r>
              <a:rPr lang="en-US" sz="1400" dirty="0">
                <a:solidFill>
                  <a:schemeClr val="tx1"/>
                </a:solidFill>
              </a:rPr>
              <a:t>Preprocessing  →  U-Net  →  L1 + SSIM loss  →  50 epochs on Colab T4</a:t>
            </a:r>
            <a:endParaRPr lang="en-US" sz="1700" dirty="0"/>
          </a:p>
        </p:txBody>
      </p:sp>
      <p:sp>
        <p:nvSpPr>
          <p:cNvPr id="9" name="Shape 7"/>
          <p:cNvSpPr/>
          <p:nvPr/>
        </p:nvSpPr>
        <p:spPr>
          <a:xfrm>
            <a:off x="9144000" y="2834640"/>
            <a:ext cx="2496312" cy="1188720"/>
          </a:xfrm>
          <a:prstGeom prst="roundRect">
            <a:avLst>
              <a:gd name="adj" fmla="val 6154"/>
            </a:avLst>
          </a:prstGeom>
          <a:solidFill>
            <a:schemeClr val="accent1"/>
          </a:solidFill>
          <a:ln w="12700">
            <a:solidFill>
              <a:schemeClr val="accent1"/>
            </a:solidFill>
            <a:prstDash val="solid"/>
          </a:ln>
        </p:spPr>
      </p:sp>
      <p:sp>
        <p:nvSpPr>
          <p:cNvPr id="10" name="Text 8"/>
          <p:cNvSpPr txBox="1"/>
          <p:nvPr/>
        </p:nvSpPr>
        <p:spPr>
          <a:xfrm>
            <a:off x="9144000" y="2834640"/>
            <a:ext cx="2496312" cy="1188720"/>
          </a:xfrm>
          <a:prstGeom prst="rect">
            <a:avLst/>
          </a:prstGeom>
          <a:noFill/>
          <a:ln/>
        </p:spPr>
        <p:txBody>
          <a:bodyPr wrap="square" lIns="0" tIns="0" rIns="0" bIns="0" rtlCol="0" anchor="ctr"/>
          <a:lstStyle/>
          <a:p>
            <a:pPr algn="ctr" indent="0" marL="0">
              <a:buNone/>
            </a:pPr>
            <a:r>
              <a:rPr lang="en-US" sz="1500" b="1" dirty="0">
                <a:solidFill>
                  <a:schemeClr val="tx2"/>
                </a:solidFill>
              </a:rPr>
              <a:t>Evaluation</a:t>
            </a:r>
            <a:endParaRPr lang="en-US" sz="1500" dirty="0"/>
          </a:p>
          <a:p>
            <a:pPr algn="ctr" indent="0" marL="0">
              <a:buNone/>
            </a:pPr>
            <a:r>
              <a:rPr lang="en-US" sz="1500" b="1" dirty="0">
                <a:solidFill>
                  <a:schemeClr val="tx2"/>
                </a:solidFill>
              </a:rPr>
              <a:t>PSNR · SSIM</a:t>
            </a:r>
            <a:endParaRPr lang="en-US" sz="1500" dirty="0"/>
          </a:p>
        </p:txBody>
      </p:sp>
      <p:sp>
        <p:nvSpPr>
          <p:cNvPr id="11" name="Shape 9"/>
          <p:cNvSpPr/>
          <p:nvPr/>
        </p:nvSpPr>
        <p:spPr>
          <a:xfrm>
            <a:off x="2377440" y="3200400"/>
            <a:ext cx="731520" cy="-868680"/>
          </a:xfrm>
          <a:prstGeom prst="line">
            <a:avLst/>
          </a:prstGeom>
          <a:noFill/>
          <a:ln w="25400">
            <a:solidFill>
              <a:schemeClr val="accent3"/>
            </a:solidFill>
            <a:prstDash val="solid"/>
            <a:tailEnd type="triangle"/>
          </a:ln>
        </p:spPr>
      </p:sp>
      <p:sp>
        <p:nvSpPr>
          <p:cNvPr id="12" name="Shape 10"/>
          <p:cNvSpPr/>
          <p:nvPr/>
        </p:nvSpPr>
        <p:spPr>
          <a:xfrm>
            <a:off x="2377440" y="3657600"/>
            <a:ext cx="731520" cy="868680"/>
          </a:xfrm>
          <a:prstGeom prst="line">
            <a:avLst/>
          </a:prstGeom>
          <a:noFill/>
          <a:ln w="25400">
            <a:solidFill>
              <a:schemeClr val="accent3"/>
            </a:solidFill>
            <a:prstDash val="solid"/>
            <a:tailEnd type="triangle"/>
          </a:ln>
        </p:spPr>
      </p:sp>
      <p:sp>
        <p:nvSpPr>
          <p:cNvPr id="13" name="Shape 11"/>
          <p:cNvSpPr/>
          <p:nvPr/>
        </p:nvSpPr>
        <p:spPr>
          <a:xfrm>
            <a:off x="8595360" y="2331720"/>
            <a:ext cx="548640" cy="868680"/>
          </a:xfrm>
          <a:prstGeom prst="line">
            <a:avLst/>
          </a:prstGeom>
          <a:noFill/>
          <a:ln w="25400">
            <a:solidFill>
              <a:schemeClr val="accent3"/>
            </a:solidFill>
            <a:prstDash val="solid"/>
            <a:tailEnd type="triangle"/>
          </a:ln>
        </p:spPr>
      </p:sp>
      <p:sp>
        <p:nvSpPr>
          <p:cNvPr id="14" name="Shape 12"/>
          <p:cNvSpPr/>
          <p:nvPr/>
        </p:nvSpPr>
        <p:spPr>
          <a:xfrm>
            <a:off x="8595360" y="4526280"/>
            <a:ext cx="548640" cy="-868680"/>
          </a:xfrm>
          <a:prstGeom prst="line">
            <a:avLst/>
          </a:prstGeom>
          <a:noFill/>
          <a:ln w="25400">
            <a:solidFill>
              <a:schemeClr val="accent3"/>
            </a:solidFill>
            <a:prstDash val="solid"/>
            <a:tailEnd type="triangle"/>
          </a:ln>
        </p:spPr>
      </p:sp>
      <p:sp>
        <p:nvSpPr>
          <p:cNvPr id="15" name="Text 13"/>
          <p:cNvSpPr txBox="1"/>
          <p:nvPr/>
        </p:nvSpPr>
        <p:spPr>
          <a:xfrm>
            <a:off x="548640" y="5760720"/>
            <a:ext cx="10972800" cy="320040"/>
          </a:xfrm>
          <a:prstGeom prst="rect">
            <a:avLst/>
          </a:prstGeom>
          <a:noFill/>
          <a:ln/>
        </p:spPr>
        <p:txBody>
          <a:bodyPr wrap="square" lIns="0" tIns="0" rIns="0" bIns="0" rtlCol="0" anchor="ctr"/>
          <a:lstStyle/>
          <a:p>
            <a:pPr algn="l" indent="0" marL="0">
              <a:buNone/>
            </a:pPr>
            <a:r>
              <a:rPr lang="en-US" sz="1100" i="1" dirty="0">
                <a:solidFill>
                  <a:schemeClr val="accent5"/>
                </a:solidFill>
              </a:rPr>
              <a:t>Both branches are scored on the same 15 test images, so the comparison is like-for-like.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Dataset: LOL-v1 (LOw-Light)</a:t>
            </a:r>
            <a:endParaRPr lang="en-US" sz="3200" dirty="0"/>
          </a:p>
        </p:txBody>
      </p:sp>
      <p:sp>
        <p:nvSpPr>
          <p:cNvPr id="3" name="Shape 1"/>
          <p:cNvSpPr/>
          <p:nvPr/>
        </p:nvSpPr>
        <p:spPr>
          <a:xfrm>
            <a:off x="548640" y="1463040"/>
            <a:ext cx="228600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731520" y="1554480"/>
            <a:ext cx="1920240" cy="11887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500</a:t>
            </a:r>
            <a:endParaRPr lang="en-US" sz="3200" dirty="0"/>
          </a:p>
          <a:p>
            <a:pPr indent="0" marL="0">
              <a:buNone/>
            </a:pPr>
            <a:r>
              <a:rPr lang="en-US" sz="1300" dirty="0">
                <a:solidFill>
                  <a:schemeClr val="accent5"/>
                </a:solidFill>
              </a:rPr>
              <a:t>paired images</a:t>
            </a:r>
            <a:endParaRPr lang="en-US" sz="3200" dirty="0"/>
          </a:p>
        </p:txBody>
      </p:sp>
      <p:sp>
        <p:nvSpPr>
          <p:cNvPr id="5" name="Shape 3"/>
          <p:cNvSpPr/>
          <p:nvPr/>
        </p:nvSpPr>
        <p:spPr>
          <a:xfrm>
            <a:off x="3063240" y="1463040"/>
            <a:ext cx="2286000" cy="1371600"/>
          </a:xfrm>
          <a:prstGeom prst="roundRect">
            <a:avLst>
              <a:gd name="adj" fmla="val 5333"/>
            </a:avLst>
          </a:prstGeom>
          <a:solidFill>
            <a:schemeClr val="bg2"/>
          </a:solidFill>
          <a:ln w="12700">
            <a:solidFill>
              <a:schemeClr val="bg2"/>
            </a:solidFill>
            <a:prstDash val="solid"/>
          </a:ln>
        </p:spPr>
      </p:sp>
      <p:sp>
        <p:nvSpPr>
          <p:cNvPr id="6" name="Text 4"/>
          <p:cNvSpPr txBox="1"/>
          <p:nvPr/>
        </p:nvSpPr>
        <p:spPr>
          <a:xfrm>
            <a:off x="3246120" y="1554480"/>
            <a:ext cx="1920240" cy="11887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485</a:t>
            </a:r>
            <a:endParaRPr lang="en-US" sz="3200" dirty="0"/>
          </a:p>
          <a:p>
            <a:pPr indent="0" marL="0">
              <a:buNone/>
            </a:pPr>
            <a:r>
              <a:rPr lang="en-US" sz="1300" dirty="0">
                <a:solidFill>
                  <a:schemeClr val="accent5"/>
                </a:solidFill>
              </a:rPr>
              <a:t>training pairs (our485)</a:t>
            </a:r>
            <a:endParaRPr lang="en-US" sz="3200" dirty="0"/>
          </a:p>
        </p:txBody>
      </p:sp>
      <p:sp>
        <p:nvSpPr>
          <p:cNvPr id="7" name="Shape 5"/>
          <p:cNvSpPr/>
          <p:nvPr/>
        </p:nvSpPr>
        <p:spPr>
          <a:xfrm>
            <a:off x="548640" y="3063240"/>
            <a:ext cx="2286000" cy="1371600"/>
          </a:xfrm>
          <a:prstGeom prst="roundRect">
            <a:avLst>
              <a:gd name="adj" fmla="val 5333"/>
            </a:avLst>
          </a:prstGeom>
          <a:solidFill>
            <a:schemeClr val="bg2"/>
          </a:solidFill>
          <a:ln w="12700">
            <a:solidFill>
              <a:schemeClr val="bg2"/>
            </a:solidFill>
            <a:prstDash val="solid"/>
          </a:ln>
        </p:spPr>
      </p:sp>
      <p:sp>
        <p:nvSpPr>
          <p:cNvPr id="8" name="Text 6"/>
          <p:cNvSpPr txBox="1"/>
          <p:nvPr/>
        </p:nvSpPr>
        <p:spPr>
          <a:xfrm>
            <a:off x="731520" y="3154680"/>
            <a:ext cx="1920240" cy="11887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15</a:t>
            </a:r>
            <a:endParaRPr lang="en-US" sz="3200" dirty="0"/>
          </a:p>
          <a:p>
            <a:pPr indent="0" marL="0">
              <a:buNone/>
            </a:pPr>
            <a:r>
              <a:rPr lang="en-US" sz="1300" dirty="0">
                <a:solidFill>
                  <a:schemeClr val="accent5"/>
                </a:solidFill>
              </a:rPr>
              <a:t>test pairs (eval15)</a:t>
            </a:r>
            <a:endParaRPr lang="en-US" sz="3200" dirty="0"/>
          </a:p>
        </p:txBody>
      </p:sp>
      <p:sp>
        <p:nvSpPr>
          <p:cNvPr id="9" name="Shape 7"/>
          <p:cNvSpPr/>
          <p:nvPr/>
        </p:nvSpPr>
        <p:spPr>
          <a:xfrm>
            <a:off x="3063240" y="3063240"/>
            <a:ext cx="228600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3246120" y="3154680"/>
            <a:ext cx="1920240" cy="118872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400×600</a:t>
            </a:r>
            <a:endParaRPr lang="en-US" sz="3200" dirty="0"/>
          </a:p>
          <a:p>
            <a:pPr indent="0" marL="0">
              <a:buNone/>
            </a:pPr>
            <a:r>
              <a:rPr lang="en-US" sz="1300" dirty="0">
                <a:solidFill>
                  <a:schemeClr val="accent5"/>
                </a:solidFill>
              </a:rPr>
              <a:t>resolution</a:t>
            </a:r>
            <a:endParaRPr lang="en-US" sz="3200" dirty="0"/>
          </a:p>
        </p:txBody>
      </p:sp>
      <p:sp>
        <p:nvSpPr>
          <p:cNvPr id="11" name="Text 9"/>
          <p:cNvSpPr txBox="1"/>
          <p:nvPr/>
        </p:nvSpPr>
        <p:spPr>
          <a:xfrm>
            <a:off x="548640" y="4800600"/>
            <a:ext cx="4846320" cy="146304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rPr>
              <a:t>Same scene captured under low and normal light</a:t>
            </a:r>
            <a:endParaRPr lang="en-US" sz="1400" dirty="0"/>
          </a:p>
          <a:p>
            <a:pPr marL="228600" indent="-228600">
              <a:spcAft>
                <a:spcPts val="600"/>
              </a:spcAft>
              <a:buSzPct val="100000"/>
              <a:buChar char="•"/>
            </a:pPr>
            <a:r>
              <a:rPr lang="en-US" sz="1400" dirty="0">
                <a:solidFill>
                  <a:schemeClr val="tx1"/>
                </a:solidFill>
              </a:rPr>
              <a:t>Real camera noise; mostly indoor scenes</a:t>
            </a:r>
            <a:endParaRPr lang="en-US" sz="1400" dirty="0"/>
          </a:p>
          <a:p>
            <a:pPr marL="228600" indent="-228600">
              <a:spcAft>
                <a:spcPts val="600"/>
              </a:spcAft>
              <a:buSzPct val="100000"/>
              <a:buChar char="•"/>
            </a:pPr>
            <a:r>
              <a:rPr lang="en-US" sz="1400" dirty="0">
                <a:solidFill>
                  <a:schemeClr val="tx1"/>
                </a:solidFill>
              </a:rPr>
              <a:t>Wei et al., Deep Retinex Decomposition, BMVC 2018</a:t>
            </a:r>
            <a:endParaRPr lang="en-US" sz="1400" dirty="0"/>
          </a:p>
        </p:txBody>
      </p:sp>
      <p:pic>
        <p:nvPicPr>
          <p:cNvPr id="12" name="Image 0" descr="/home/claude/work/out/sample_low.png">    </p:cNvPr>
          <p:cNvPicPr>
            <a:picLocks noChangeAspect="1"/>
          </p:cNvPicPr>
          <p:nvPr/>
        </p:nvPicPr>
        <p:blipFill>
          <a:blip r:embed="rId1"/>
          <a:stretch>
            <a:fillRect/>
          </a:stretch>
        </p:blipFill>
        <p:spPr>
          <a:xfrm>
            <a:off x="5989320" y="1463040"/>
            <a:ext cx="2743200" cy="1828800"/>
          </a:xfrm>
          <a:prstGeom prst="rect">
            <a:avLst/>
          </a:prstGeom>
        </p:spPr>
      </p:pic>
      <p:pic>
        <p:nvPicPr>
          <p:cNvPr id="13" name="Image 1" descr="/home/claude/work/out/sample_high.png">    </p:cNvPr>
          <p:cNvPicPr>
            <a:picLocks noChangeAspect="1"/>
          </p:cNvPicPr>
          <p:nvPr/>
        </p:nvPicPr>
        <p:blipFill>
          <a:blip r:embed="rId2"/>
          <a:stretch>
            <a:fillRect/>
          </a:stretch>
        </p:blipFill>
        <p:spPr>
          <a:xfrm>
            <a:off x="8897112" y="1463040"/>
            <a:ext cx="2743200" cy="1828800"/>
          </a:xfrm>
          <a:prstGeom prst="rect">
            <a:avLst/>
          </a:prstGeom>
        </p:spPr>
      </p:pic>
      <p:sp>
        <p:nvSpPr>
          <p:cNvPr id="14" name="Text 10"/>
          <p:cNvSpPr txBox="1"/>
          <p:nvPr/>
        </p:nvSpPr>
        <p:spPr>
          <a:xfrm>
            <a:off x="5989320" y="3337560"/>
            <a:ext cx="2743200" cy="320040"/>
          </a:xfrm>
          <a:prstGeom prst="rect">
            <a:avLst/>
          </a:prstGeom>
          <a:noFill/>
          <a:ln/>
        </p:spPr>
        <p:txBody>
          <a:bodyPr wrap="square" lIns="0" tIns="0" rIns="0" bIns="0" rtlCol="0" anchor="ctr"/>
          <a:lstStyle/>
          <a:p>
            <a:pPr algn="ctr" indent="0" marL="0">
              <a:buNone/>
            </a:pPr>
            <a:r>
              <a:rPr lang="en-US" sz="1100" i="1" dirty="0">
                <a:solidFill>
                  <a:schemeClr val="accent5"/>
                </a:solidFill>
              </a:rPr>
              <a:t>Low-light input</a:t>
            </a:r>
            <a:endParaRPr lang="en-US" sz="1100" dirty="0"/>
          </a:p>
        </p:txBody>
      </p:sp>
      <p:sp>
        <p:nvSpPr>
          <p:cNvPr id="15" name="Text 11"/>
          <p:cNvSpPr txBox="1"/>
          <p:nvPr/>
        </p:nvSpPr>
        <p:spPr>
          <a:xfrm>
            <a:off x="8897112" y="3337560"/>
            <a:ext cx="2743200" cy="320040"/>
          </a:xfrm>
          <a:prstGeom prst="rect">
            <a:avLst/>
          </a:prstGeom>
          <a:noFill/>
          <a:ln/>
        </p:spPr>
        <p:txBody>
          <a:bodyPr wrap="square" lIns="0" tIns="0" rIns="0" bIns="0" rtlCol="0" anchor="ctr"/>
          <a:lstStyle/>
          <a:p>
            <a:pPr algn="ctr" indent="0" marL="0">
              <a:buNone/>
            </a:pPr>
            <a:r>
              <a:rPr lang="en-US" sz="1100" i="1" dirty="0">
                <a:solidFill>
                  <a:schemeClr val="accent5"/>
                </a:solidFill>
              </a:rPr>
              <a:t>Well-lit reference</a:t>
            </a:r>
            <a:endParaRPr lang="en-US" sz="1100" dirty="0"/>
          </a:p>
        </p:txBody>
      </p:sp>
      <p:sp>
        <p:nvSpPr>
          <p:cNvPr id="16" name="Shape 12"/>
          <p:cNvSpPr/>
          <p:nvPr/>
        </p:nvSpPr>
        <p:spPr>
          <a:xfrm>
            <a:off x="5989320" y="3931920"/>
            <a:ext cx="5650992" cy="2103120"/>
          </a:xfrm>
          <a:prstGeom prst="roundRect">
            <a:avLst>
              <a:gd name="adj" fmla="val 3478"/>
            </a:avLst>
          </a:prstGeom>
          <a:solidFill>
            <a:schemeClr val="bg2"/>
          </a:solidFill>
          <a:ln w="12700">
            <a:solidFill>
              <a:schemeClr val="bg2"/>
            </a:solidFill>
            <a:prstDash val="solid"/>
          </a:ln>
        </p:spPr>
      </p:sp>
      <p:sp>
        <p:nvSpPr>
          <p:cNvPr id="17" name="Text 13"/>
          <p:cNvSpPr txBox="1"/>
          <p:nvPr/>
        </p:nvSpPr>
        <p:spPr>
          <a:xfrm>
            <a:off x="6217920" y="4069080"/>
            <a:ext cx="5212080" cy="1828800"/>
          </a:xfrm>
          <a:prstGeom prst="rect">
            <a:avLst/>
          </a:prstGeom>
          <a:noFill/>
          <a:ln/>
        </p:spPr>
        <p:txBody>
          <a:bodyPr wrap="square" lIns="0" tIns="0" rIns="0" bIns="0" rtlCol="0" anchor="ctr"/>
          <a:lstStyle/>
          <a:p>
            <a:pPr indent="0" marL="0">
              <a:spcAft>
                <a:spcPts val="600"/>
              </a:spcAft>
              <a:buNone/>
            </a:pPr>
            <a:r>
              <a:rPr lang="en-US" sz="1500" b="1" dirty="0">
                <a:solidFill>
                  <a:schemeClr val="tx2"/>
                </a:solidFill>
              </a:rPr>
              <a:t>Folder structure</a:t>
            </a:r>
            <a:endParaRPr lang="en-US" sz="15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our485/low  ·  our485/high   → training</a:t>
            </a:r>
            <a:endParaRPr lang="en-US" sz="15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eval15/low  ·  eval15/high   → testing</a:t>
            </a:r>
            <a:endParaRPr lang="en-US" sz="1500" dirty="0"/>
          </a:p>
          <a:p>
            <a:pPr indent="0" marL="0">
              <a:spcAft>
                <a:spcPts val="600"/>
              </a:spcAft>
              <a:buNone/>
            </a:pPr>
            <a:r>
              <a:rPr lang="en-US" sz="1300" dirty="0">
                <a:solidFill>
                  <a:schemeClr val="accent5"/>
                </a:solidFill>
              </a:rPr>
              <a:t>Low and high images are paired by filename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Environment and data setup</a:t>
            </a:r>
            <a:endParaRPr lang="en-US" sz="3200" dirty="0"/>
          </a:p>
        </p:txBody>
      </p:sp>
      <p:sp>
        <p:nvSpPr>
          <p:cNvPr id="3" name="Shape 1"/>
          <p:cNvSpPr/>
          <p:nvPr/>
        </p:nvSpPr>
        <p:spPr>
          <a:xfrm>
            <a:off x="548640" y="150876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280160" y="1463040"/>
            <a:ext cx="6035040" cy="868680"/>
          </a:xfrm>
          <a:prstGeom prst="rect">
            <a:avLst/>
          </a:prstGeom>
          <a:noFill/>
          <a:ln/>
        </p:spPr>
        <p:txBody>
          <a:bodyPr wrap="square" lIns="0" tIns="0" rIns="0" bIns="0" rtlCol="0" anchor="t"/>
          <a:lstStyle/>
          <a:p>
            <a:pPr indent="0" marL="0">
              <a:buNone/>
            </a:pPr>
            <a:r>
              <a:rPr lang="en-US" sz="1600" b="1" dirty="0">
                <a:solidFill>
                  <a:schemeClr val="tx2"/>
                </a:solidFill>
              </a:rPr>
              <a:t>Platform  </a:t>
            </a:r>
            <a:pPr indent="0" marL="0">
              <a:buNone/>
            </a:pPr>
            <a:r>
              <a:rPr lang="en-US" sz="1600" dirty="0">
                <a:solidFill>
                  <a:schemeClr val="tx1"/>
                </a:solidFill>
              </a:rPr>
              <a:t>Google Colab with an NVIDIA Tesla T4 GPU; code falls back to CPU if no GPU is found</a:t>
            </a:r>
            <a:endParaRPr lang="en-US" sz="1600" dirty="0"/>
          </a:p>
        </p:txBody>
      </p:sp>
      <p:sp>
        <p:nvSpPr>
          <p:cNvPr id="6" name="Shape 4"/>
          <p:cNvSpPr/>
          <p:nvPr/>
        </p:nvSpPr>
        <p:spPr>
          <a:xfrm>
            <a:off x="548640" y="260604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8" name="Text 6"/>
          <p:cNvSpPr txBox="1"/>
          <p:nvPr/>
        </p:nvSpPr>
        <p:spPr>
          <a:xfrm>
            <a:off x="1280160" y="2560320"/>
            <a:ext cx="6035040" cy="868680"/>
          </a:xfrm>
          <a:prstGeom prst="rect">
            <a:avLst/>
          </a:prstGeom>
          <a:noFill/>
          <a:ln/>
        </p:spPr>
        <p:txBody>
          <a:bodyPr wrap="square" lIns="0" tIns="0" rIns="0" bIns="0" rtlCol="0" anchor="t"/>
          <a:lstStyle/>
          <a:p>
            <a:pPr indent="0" marL="0">
              <a:buNone/>
            </a:pPr>
            <a:r>
              <a:rPr lang="en-US" sz="1600" b="1" dirty="0">
                <a:solidFill>
                  <a:schemeClr val="tx2"/>
                </a:solidFill>
              </a:rPr>
              <a:t>Download  </a:t>
            </a:r>
            <a:pPr indent="0" marL="0">
              <a:buNone/>
            </a:pPr>
            <a:r>
              <a:rPr lang="en-US" sz="1600" dirty="0">
                <a:solidFill>
                  <a:schemeClr val="tx1"/>
                </a:solidFill>
              </a:rPr>
              <a:t>LOL zip (331 MB) fetched from Hugging Face directly into Colab and extracted</a:t>
            </a:r>
            <a:endParaRPr lang="en-US" sz="1600" dirty="0"/>
          </a:p>
        </p:txBody>
      </p:sp>
      <p:sp>
        <p:nvSpPr>
          <p:cNvPr id="9" name="Shape 7"/>
          <p:cNvSpPr/>
          <p:nvPr/>
        </p:nvSpPr>
        <p:spPr>
          <a:xfrm>
            <a:off x="548640" y="370332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48640" y="370332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1" name="Text 9"/>
          <p:cNvSpPr txBox="1"/>
          <p:nvPr/>
        </p:nvSpPr>
        <p:spPr>
          <a:xfrm>
            <a:off x="1280160" y="3657600"/>
            <a:ext cx="6035040" cy="868680"/>
          </a:xfrm>
          <a:prstGeom prst="rect">
            <a:avLst/>
          </a:prstGeom>
          <a:noFill/>
          <a:ln/>
        </p:spPr>
        <p:txBody>
          <a:bodyPr wrap="square" lIns="0" tIns="0" rIns="0" bIns="0" rtlCol="0" anchor="t"/>
          <a:lstStyle/>
          <a:p>
            <a:pPr indent="0" marL="0">
              <a:buNone/>
            </a:pPr>
            <a:r>
              <a:rPr lang="en-US" sz="1600" b="1" dirty="0">
                <a:solidFill>
                  <a:schemeClr val="tx2"/>
                </a:solidFill>
              </a:rPr>
              <a:t>Verify  </a:t>
            </a:r>
            <a:pPr indent="0" marL="0">
              <a:buNone/>
            </a:pPr>
            <a:r>
              <a:rPr lang="en-US" sz="1600" dirty="0">
                <a:solidFill>
                  <a:schemeClr val="tx1"/>
                </a:solidFill>
              </a:rPr>
              <a:t>Image count checked in every folder so low and high sets match</a:t>
            </a:r>
            <a:endParaRPr lang="en-US" sz="1600" dirty="0"/>
          </a:p>
        </p:txBody>
      </p:sp>
      <p:sp>
        <p:nvSpPr>
          <p:cNvPr id="12" name="Shape 10"/>
          <p:cNvSpPr/>
          <p:nvPr/>
        </p:nvSpPr>
        <p:spPr>
          <a:xfrm>
            <a:off x="548640" y="480060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4800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4" name="Text 12"/>
          <p:cNvSpPr txBox="1"/>
          <p:nvPr/>
        </p:nvSpPr>
        <p:spPr>
          <a:xfrm>
            <a:off x="1280160" y="4754880"/>
            <a:ext cx="6035040" cy="868680"/>
          </a:xfrm>
          <a:prstGeom prst="rect">
            <a:avLst/>
          </a:prstGeom>
          <a:noFill/>
          <a:ln/>
        </p:spPr>
        <p:txBody>
          <a:bodyPr wrap="square" lIns="0" tIns="0" rIns="0" bIns="0" rtlCol="0" anchor="t"/>
          <a:lstStyle/>
          <a:p>
            <a:pPr indent="0" marL="0">
              <a:buNone/>
            </a:pPr>
            <a:r>
              <a:rPr lang="en-US" sz="1600" b="1" dirty="0">
                <a:solidFill>
                  <a:schemeClr val="tx2"/>
                </a:solidFill>
              </a:rPr>
              <a:t>Clean  </a:t>
            </a:r>
            <a:pPr indent="0" marL="0">
              <a:buNone/>
            </a:pPr>
            <a:r>
              <a:rPr lang="en-US" sz="1600" dirty="0">
                <a:solidFill>
                  <a:schemeClr val="tx1"/>
                </a:solidFill>
              </a:rPr>
              <a:t>Hidden system files (e.g. .DS_Store) filtered out so each low image pairs with exactly one high image</a:t>
            </a:r>
            <a:endParaRPr lang="en-US" sz="1600" dirty="0"/>
          </a:p>
        </p:txBody>
      </p:sp>
      <p:sp>
        <p:nvSpPr>
          <p:cNvPr id="15" name="Shape 13"/>
          <p:cNvSpPr/>
          <p:nvPr/>
        </p:nvSpPr>
        <p:spPr>
          <a:xfrm>
            <a:off x="7680960" y="1463040"/>
            <a:ext cx="3959352" cy="4206240"/>
          </a:xfrm>
          <a:prstGeom prst="roundRect">
            <a:avLst>
              <a:gd name="adj" fmla="val 1848"/>
            </a:avLst>
          </a:prstGeom>
          <a:solidFill>
            <a:schemeClr val="tx2"/>
          </a:solidFill>
          <a:ln w="12700">
            <a:solidFill>
              <a:schemeClr val="tx2"/>
            </a:solidFill>
            <a:prstDash val="solid"/>
          </a:ln>
        </p:spPr>
      </p:sp>
      <p:sp>
        <p:nvSpPr>
          <p:cNvPr id="16" name="Text 14"/>
          <p:cNvSpPr txBox="1"/>
          <p:nvPr/>
        </p:nvSpPr>
        <p:spPr>
          <a:xfrm>
            <a:off x="8001000" y="1691640"/>
            <a:ext cx="3383280" cy="374904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Tools &amp; libraries</a:t>
            </a:r>
            <a:endParaRPr lang="en-US" sz="1600" dirty="0"/>
          </a:p>
          <a:p>
            <a:pPr indent="0" marL="0">
              <a:spcAft>
                <a:spcPts val="600"/>
              </a:spcAft>
              <a:buNone/>
            </a:pPr>
            <a:r>
              <a:rPr lang="en-US" sz="1600" dirty="0">
                <a:solidFill>
                  <a:schemeClr val="bg1"/>
                </a:solidFill>
              </a:rPr>
              <a:t>Python</a:t>
            </a:r>
            <a:endParaRPr lang="en-US" sz="1600" dirty="0"/>
          </a:p>
          <a:p>
            <a:pPr indent="0" marL="0">
              <a:spcAft>
                <a:spcPts val="600"/>
              </a:spcAft>
              <a:buNone/>
            </a:pPr>
            <a:r>
              <a:rPr lang="en-US" sz="1600" dirty="0">
                <a:solidFill>
                  <a:schemeClr val="bg1"/>
                </a:solidFill>
              </a:rPr>
              <a:t>PyTorch</a:t>
            </a:r>
            <a:endParaRPr lang="en-US" sz="1600" dirty="0"/>
          </a:p>
          <a:p>
            <a:pPr indent="0" marL="0">
              <a:spcAft>
                <a:spcPts val="600"/>
              </a:spcAft>
              <a:buNone/>
            </a:pPr>
            <a:r>
              <a:rPr lang="en-US" sz="1600" dirty="0">
                <a:solidFill>
                  <a:schemeClr val="bg1"/>
                </a:solidFill>
              </a:rPr>
              <a:t>OpenCV</a:t>
            </a:r>
            <a:endParaRPr lang="en-US" sz="1600" dirty="0"/>
          </a:p>
          <a:p>
            <a:pPr indent="0" marL="0">
              <a:spcAft>
                <a:spcPts val="600"/>
              </a:spcAft>
              <a:buNone/>
            </a:pPr>
            <a:r>
              <a:rPr lang="en-US" sz="1600" dirty="0">
                <a:solidFill>
                  <a:schemeClr val="bg1"/>
                </a:solidFill>
              </a:rPr>
              <a:t>NumPy · Pillow</a:t>
            </a:r>
            <a:endParaRPr lang="en-US" sz="1600" dirty="0"/>
          </a:p>
          <a:p>
            <a:pPr indent="0" marL="0">
              <a:spcAft>
                <a:spcPts val="600"/>
              </a:spcAft>
              <a:buNone/>
            </a:pPr>
            <a:r>
              <a:rPr lang="en-US" sz="1600" dirty="0">
                <a:solidFill>
                  <a:schemeClr val="bg1"/>
                </a:solidFill>
              </a:rPr>
              <a:t>Matplotlib</a:t>
            </a:r>
            <a:endParaRPr lang="en-US" sz="1600" dirty="0"/>
          </a:p>
          <a:p>
            <a:pPr indent="0" marL="0">
              <a:spcAft>
                <a:spcPts val="600"/>
              </a:spcAft>
              <a:buNone/>
            </a:pPr>
            <a:r>
              <a:rPr lang="en-US" sz="1600" dirty="0">
                <a:solidFill>
                  <a:schemeClr val="bg1"/>
                </a:solidFill>
              </a:rPr>
              <a:t>scikit-image (PSNR, SSIM)</a:t>
            </a:r>
            <a:endParaRPr lang="en-US" sz="1600" dirty="0"/>
          </a:p>
          <a:p>
            <a:pPr indent="0" marL="0">
              <a:spcAft>
                <a:spcPts val="600"/>
              </a:spcAft>
              <a:buNone/>
            </a:pPr>
            <a:r>
              <a:rPr lang="en-US" sz="1600" dirty="0">
                <a:solidFill>
                  <a:schemeClr val="bg1"/>
                </a:solidFill>
              </a:rPr>
              <a:t>Pandas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1 · Gamma correction</a:t>
            </a:r>
            <a:endParaRPr lang="en-US" sz="3200" dirty="0"/>
          </a:p>
        </p:txBody>
      </p:sp>
      <p:sp>
        <p:nvSpPr>
          <p:cNvPr id="3" name="Shape 1"/>
          <p:cNvSpPr/>
          <p:nvPr/>
        </p:nvSpPr>
        <p:spPr>
          <a:xfrm>
            <a:off x="548640" y="1417320"/>
            <a:ext cx="5394960" cy="822960"/>
          </a:xfrm>
          <a:prstGeom prst="roundRect">
            <a:avLst>
              <a:gd name="adj" fmla="val 8889"/>
            </a:avLst>
          </a:prstGeom>
          <a:solidFill>
            <a:schemeClr val="bg2"/>
          </a:solidFill>
          <a:ln w="12700">
            <a:solidFill>
              <a:schemeClr val="bg2"/>
            </a:solidFill>
            <a:prstDash val="solid"/>
          </a:ln>
        </p:spPr>
      </p:sp>
      <p:sp>
        <p:nvSpPr>
          <p:cNvPr id="4" name="Text 2"/>
          <p:cNvSpPr txBox="1"/>
          <p:nvPr/>
        </p:nvSpPr>
        <p:spPr>
          <a:xfrm>
            <a:off x="548640" y="1417320"/>
            <a:ext cx="5394960" cy="822960"/>
          </a:xfrm>
          <a:prstGeom prst="rect">
            <a:avLst/>
          </a:prstGeom>
          <a:noFill/>
          <a:ln/>
        </p:spPr>
        <p:txBody>
          <a:bodyPr wrap="square" lIns="0" tIns="0" rIns="0" bIns="0" rtlCol="0" anchor="ctr"/>
          <a:lstStyle/>
          <a:p>
            <a:pPr algn="ctr" indent="0" marL="0">
              <a:buNone/>
            </a:pPr>
            <a:r>
              <a:rPr lang="en-US" sz="2200" i="1" dirty="0">
                <a:solidFill>
                  <a:schemeClr val="tx2"/>
                </a:solidFill>
                <a:latin typeface="Cambria" pitchFamily="34" charset="0"/>
                <a:ea typeface="Cambria" pitchFamily="34" charset="-122"/>
                <a:cs typeface="Cambria" pitchFamily="34" charset="-120"/>
              </a:rPr>
              <a:t>I_out = I_in ^ γ ,   γ = 0.6</a:t>
            </a:r>
            <a:endParaRPr lang="en-US" sz="2200" dirty="0"/>
          </a:p>
        </p:txBody>
      </p:sp>
      <p:sp>
        <p:nvSpPr>
          <p:cNvPr id="5" name="Text 3"/>
          <p:cNvSpPr txBox="1"/>
          <p:nvPr/>
        </p:nvSpPr>
        <p:spPr>
          <a:xfrm>
            <a:off x="548640" y="2560320"/>
            <a:ext cx="5394960" cy="22860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Non-linear point operation on normalised intensities [0, 1]</a:t>
            </a:r>
            <a:endParaRPr lang="en-US" sz="1600" dirty="0"/>
          </a:p>
          <a:p>
            <a:pPr marL="228600" indent="-228600">
              <a:spcAft>
                <a:spcPts val="1000"/>
              </a:spcAft>
              <a:buSzPct val="100000"/>
              <a:buChar char="•"/>
            </a:pPr>
            <a:r>
              <a:rPr lang="en-US" sz="1600" dirty="0">
                <a:solidFill>
                  <a:schemeClr val="tx1"/>
                </a:solidFill>
              </a:rPr>
              <a:t>γ &lt; 1 lifts dark values much more than bright ones</a:t>
            </a:r>
            <a:endParaRPr lang="en-US" sz="1600" dirty="0"/>
          </a:p>
          <a:p>
            <a:pPr marL="228600" indent="-228600">
              <a:spcAft>
                <a:spcPts val="1000"/>
              </a:spcAft>
              <a:buSzPct val="100000"/>
              <a:buChar char="•"/>
            </a:pPr>
            <a:r>
              <a:rPr lang="en-US" sz="1600" dirty="0">
                <a:solidFill>
                  <a:schemeClr val="tx1"/>
                </a:solidFill>
              </a:rPr>
              <a:t>Simple and very fast</a:t>
            </a:r>
            <a:endParaRPr lang="en-US" sz="1600" dirty="0"/>
          </a:p>
          <a:p>
            <a:pPr marL="228600" indent="-228600">
              <a:spcAft>
                <a:spcPts val="1000"/>
              </a:spcAft>
              <a:buSzPct val="100000"/>
              <a:buChar char="•"/>
            </a:pPr>
            <a:r>
              <a:rPr lang="en-US" sz="1600" dirty="0">
                <a:solidFill>
                  <a:schemeClr val="tx1"/>
                </a:solidFill>
              </a:rPr>
              <a:t>Cannot recover detail in extremely dark regions</a:t>
            </a:r>
            <a:endParaRPr lang="en-US" sz="1600" dirty="0"/>
          </a:p>
        </p:txBody>
      </p:sp>
      <p:sp>
        <p:nvSpPr>
          <p:cNvPr id="6" name="Shape 4"/>
          <p:cNvSpPr/>
          <p:nvPr/>
        </p:nvSpPr>
        <p:spPr>
          <a:xfrm>
            <a:off x="548640" y="4937760"/>
            <a:ext cx="3840480" cy="1051560"/>
          </a:xfrm>
          <a:prstGeom prst="roundRect">
            <a:avLst>
              <a:gd name="adj" fmla="val 6957"/>
            </a:avLst>
          </a:prstGeom>
          <a:solidFill>
            <a:schemeClr val="tx2"/>
          </a:solidFill>
          <a:ln w="12700">
            <a:solidFill>
              <a:schemeClr val="tx2"/>
            </a:solidFill>
            <a:prstDash val="solid"/>
          </a:ln>
        </p:spPr>
      </p:sp>
      <p:sp>
        <p:nvSpPr>
          <p:cNvPr id="7" name="Text 5"/>
          <p:cNvSpPr txBox="1"/>
          <p:nvPr/>
        </p:nvSpPr>
        <p:spPr>
          <a:xfrm>
            <a:off x="777240" y="5047488"/>
            <a:ext cx="3474720" cy="822960"/>
          </a:xfrm>
          <a:prstGeom prst="rect">
            <a:avLst/>
          </a:prstGeom>
          <a:noFill/>
          <a:ln/>
        </p:spPr>
        <p:txBody>
          <a:bodyPr wrap="square" lIns="0" tIns="0" rIns="0" bIns="0" rtlCol="0" anchor="ctr"/>
          <a:lstStyle/>
          <a:p>
            <a:pPr indent="0" marL="0">
              <a:buNone/>
            </a:pPr>
            <a:r>
              <a:rPr lang="en-US" sz="1100" dirty="0">
                <a:solidFill>
                  <a:schemeClr val="accent4"/>
                </a:solidFill>
              </a:rPr>
              <a:t>On LOL test set (eval15)</a:t>
            </a:r>
            <a:endParaRPr lang="en-US" sz="1100" dirty="0"/>
          </a:p>
          <a:p>
            <a:pPr indent="0" marL="0">
              <a:buNone/>
            </a:pPr>
            <a:r>
              <a:rPr lang="en-US" sz="1800" b="1" dirty="0">
                <a:solidFill>
                  <a:schemeClr val="bg1"/>
                </a:solidFill>
              </a:rPr>
              <a:t>PSNR 10.62 dB   ·   SSIM 0.4726</a:t>
            </a:r>
            <a:endParaRPr lang="en-US" sz="1100" dirty="0"/>
          </a:p>
        </p:txBody>
      </p:sp>
      <p:graphicFrame>
        <p:nvGraphicFramePr>
          <p:cNvPr id="8" name="Chart 0" descr=""/>
          <p:cNvGraphicFramePr/>
          <p:nvPr/>
        </p:nvGraphicFramePr>
        <p:xfrm>
          <a:off x="6400800" y="1417320"/>
          <a:ext cx="5239512" cy="4572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 · Histogram equalization</a:t>
            </a:r>
            <a:endParaRPr lang="en-US" sz="3200" dirty="0"/>
          </a:p>
        </p:txBody>
      </p:sp>
      <p:sp>
        <p:nvSpPr>
          <p:cNvPr id="3" name="Text 1"/>
          <p:cNvSpPr txBox="1"/>
          <p:nvPr/>
        </p:nvSpPr>
        <p:spPr>
          <a:xfrm>
            <a:off x="548640" y="1463040"/>
            <a:ext cx="5394960" cy="32004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Redistributes intensities to use the full 0–255 range</a:t>
            </a:r>
            <a:endParaRPr lang="en-US" sz="1600" dirty="0"/>
          </a:p>
          <a:p>
            <a:pPr marL="228600" indent="-228600">
              <a:spcAft>
                <a:spcPts val="1000"/>
              </a:spcAft>
              <a:buSzPct val="100000"/>
              <a:buChar char="•"/>
            </a:pPr>
            <a:r>
              <a:rPr lang="en-US" sz="1600" dirty="0">
                <a:solidFill>
                  <a:schemeClr val="tx1"/>
                </a:solidFill>
              </a:rPr>
              <a:t>Applied only to the Y (luminance) channel in YCrCb</a:t>
            </a:r>
            <a:endParaRPr lang="en-US" sz="1600" dirty="0"/>
          </a:p>
          <a:p>
            <a:pPr marL="228600" indent="-228600">
              <a:spcAft>
                <a:spcPts val="1000"/>
              </a:spcAft>
              <a:buSzPct val="100000"/>
              <a:buChar char="•"/>
            </a:pPr>
            <a:r>
              <a:rPr lang="en-US" sz="1600" dirty="0">
                <a:solidFill>
                  <a:schemeClr val="tx1"/>
                </a:solidFill>
              </a:rPr>
              <a:t>Cr and Cb (colour) channels are kept unchanged</a:t>
            </a:r>
            <a:endParaRPr lang="en-US" sz="1600" dirty="0"/>
          </a:p>
          <a:p>
            <a:pPr marL="228600" indent="-228600">
              <a:spcAft>
                <a:spcPts val="1000"/>
              </a:spcAft>
              <a:buSzPct val="100000"/>
              <a:buChar char="•"/>
            </a:pPr>
            <a:r>
              <a:rPr lang="en-US" sz="1600" dirty="0">
                <a:solidFill>
                  <a:schemeClr val="tx1"/>
                </a:solidFill>
              </a:rPr>
              <a:t>Global: can look unnatural and amplify noise</a:t>
            </a:r>
            <a:endParaRPr lang="en-US" sz="1600" dirty="0"/>
          </a:p>
        </p:txBody>
      </p:sp>
      <p:sp>
        <p:nvSpPr>
          <p:cNvPr id="4" name="Shape 2"/>
          <p:cNvSpPr/>
          <p:nvPr/>
        </p:nvSpPr>
        <p:spPr>
          <a:xfrm>
            <a:off x="548640" y="4937760"/>
            <a:ext cx="3840480" cy="1051560"/>
          </a:xfrm>
          <a:prstGeom prst="roundRect">
            <a:avLst>
              <a:gd name="adj" fmla="val 6957"/>
            </a:avLst>
          </a:prstGeom>
          <a:solidFill>
            <a:schemeClr val="tx2"/>
          </a:solidFill>
          <a:ln w="12700">
            <a:solidFill>
              <a:schemeClr val="tx2"/>
            </a:solidFill>
            <a:prstDash val="solid"/>
          </a:ln>
        </p:spPr>
      </p:sp>
      <p:sp>
        <p:nvSpPr>
          <p:cNvPr id="5" name="Text 3"/>
          <p:cNvSpPr txBox="1"/>
          <p:nvPr/>
        </p:nvSpPr>
        <p:spPr>
          <a:xfrm>
            <a:off x="777240" y="5047488"/>
            <a:ext cx="3474720" cy="822960"/>
          </a:xfrm>
          <a:prstGeom prst="rect">
            <a:avLst/>
          </a:prstGeom>
          <a:noFill/>
          <a:ln/>
        </p:spPr>
        <p:txBody>
          <a:bodyPr wrap="square" lIns="0" tIns="0" rIns="0" bIns="0" rtlCol="0" anchor="ctr"/>
          <a:lstStyle/>
          <a:p>
            <a:pPr indent="0" marL="0">
              <a:buNone/>
            </a:pPr>
            <a:r>
              <a:rPr lang="en-US" sz="1100" dirty="0">
                <a:solidFill>
                  <a:schemeClr val="accent4"/>
                </a:solidFill>
              </a:rPr>
              <a:t>On LOL test set (eval15)</a:t>
            </a:r>
            <a:endParaRPr lang="en-US" sz="1100" dirty="0"/>
          </a:p>
          <a:p>
            <a:pPr indent="0" marL="0">
              <a:buNone/>
            </a:pPr>
            <a:r>
              <a:rPr lang="en-US" sz="1800" b="1" dirty="0">
                <a:solidFill>
                  <a:schemeClr val="bg1"/>
                </a:solidFill>
              </a:rPr>
              <a:t>PSNR 14.24 dB   ·   SSIM 0.4252</a:t>
            </a:r>
            <a:endParaRPr lang="en-US" sz="1100" dirty="0"/>
          </a:p>
        </p:txBody>
      </p:sp>
      <p:graphicFrame>
        <p:nvGraphicFramePr>
          <p:cNvPr id="6" name="Chart 0" descr=""/>
          <p:cNvGraphicFramePr/>
          <p:nvPr/>
        </p:nvGraphicFramePr>
        <p:xfrm>
          <a:off x="6400800" y="1417320"/>
          <a:ext cx="25146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9125712" y="1417320"/>
          <a:ext cx="2514600" cy="301752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6400800" y="4663440"/>
            <a:ext cx="5239512" cy="1371600"/>
          </a:xfrm>
          <a:prstGeom prst="roundRect">
            <a:avLst>
              <a:gd name="adj" fmla="val 5333"/>
            </a:avLst>
          </a:prstGeom>
          <a:solidFill>
            <a:schemeClr val="bg2"/>
          </a:solidFill>
          <a:ln w="12700">
            <a:solidFill>
              <a:schemeClr val="bg2"/>
            </a:solidFill>
            <a:prstDash val="solid"/>
          </a:ln>
        </p:spPr>
      </p:sp>
      <p:sp>
        <p:nvSpPr>
          <p:cNvPr id="9" name="Text 5"/>
          <p:cNvSpPr txBox="1"/>
          <p:nvPr/>
        </p:nvSpPr>
        <p:spPr>
          <a:xfrm>
            <a:off x="6629400" y="4709160"/>
            <a:ext cx="4800600" cy="1280160"/>
          </a:xfrm>
          <a:prstGeom prst="rect">
            <a:avLst/>
          </a:prstGeom>
          <a:noFill/>
          <a:ln/>
        </p:spPr>
        <p:txBody>
          <a:bodyPr wrap="square" lIns="0" tIns="0" rIns="0" bIns="0" rtlCol="0" anchor="ctr"/>
          <a:lstStyle/>
          <a:p>
            <a:pPr indent="0" marL="0">
              <a:buNone/>
            </a:pPr>
            <a:r>
              <a:rPr lang="en-US" sz="1400" dirty="0">
                <a:solidFill>
                  <a:schemeClr val="tx1"/>
                </a:solidFill>
              </a:rPr>
              <a:t>Each intensity is mapped through the cumulative distribution (CDF) of the histogram, so frequent dark levels get stretched across the range.</a:t>
            </a:r>
            <a:endParaRPr lang="en-US" sz="1400" dirty="0"/>
          </a:p>
        </p:txBody>
      </p:sp>
      <p:sp>
        <p:nvSpPr>
          <p:cNvPr id="10" name="Text 6"/>
          <p:cNvSpPr txBox="1"/>
          <p:nvPr/>
        </p:nvSpPr>
        <p:spPr>
          <a:xfrm>
            <a:off x="6400800" y="4434840"/>
            <a:ext cx="5239512" cy="320040"/>
          </a:xfrm>
          <a:prstGeom prst="rect">
            <a:avLst/>
          </a:prstGeom>
          <a:noFill/>
          <a:ln/>
        </p:spPr>
        <p:txBody>
          <a:bodyPr wrap="square" lIns="0" tIns="0" rIns="0" bIns="0" rtlCol="0" anchor="ctr"/>
          <a:lstStyle/>
          <a:p>
            <a:pPr algn="ctr" indent="0" marL="0">
              <a:buNone/>
            </a:pPr>
            <a:r>
              <a:rPr lang="en-US" sz="1100" i="1" dirty="0">
                <a:solidFill>
                  <a:schemeClr val="accent5"/>
                </a:solidFill>
              </a:rPr>
              <a:t>Schematic histograms, for illustration</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3 · CLAHE</a:t>
            </a:r>
            <a:endParaRPr lang="en-US" sz="3200" dirty="0"/>
          </a:p>
        </p:txBody>
      </p:sp>
      <p:sp>
        <p:nvSpPr>
          <p:cNvPr id="3" name="Text 1"/>
          <p:cNvSpPr txBox="1"/>
          <p:nvPr/>
        </p:nvSpPr>
        <p:spPr>
          <a:xfrm>
            <a:off x="548640" y="1188720"/>
            <a:ext cx="7315200" cy="365760"/>
          </a:xfrm>
          <a:prstGeom prst="rect">
            <a:avLst/>
          </a:prstGeom>
          <a:noFill/>
          <a:ln/>
        </p:spPr>
        <p:txBody>
          <a:bodyPr wrap="square" lIns="0" tIns="0" rIns="0" bIns="0" rtlCol="0" anchor="ctr"/>
          <a:lstStyle/>
          <a:p>
            <a:pPr indent="0" marL="0">
              <a:buNone/>
            </a:pPr>
            <a:r>
              <a:rPr lang="en-US" sz="1500" i="1" dirty="0">
                <a:solidFill>
                  <a:schemeClr val="accent5"/>
                </a:solidFill>
              </a:rPr>
              <a:t>Contrast Limited Adaptive Histogram Equalization</a:t>
            </a:r>
            <a:endParaRPr lang="en-US" sz="1500" dirty="0"/>
          </a:p>
        </p:txBody>
      </p:sp>
      <p:sp>
        <p:nvSpPr>
          <p:cNvPr id="4" name="Text 2"/>
          <p:cNvSpPr txBox="1"/>
          <p:nvPr/>
        </p:nvSpPr>
        <p:spPr>
          <a:xfrm>
            <a:off x="548640" y="1783080"/>
            <a:ext cx="5394960"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Divides the image into small tiles and equalizes each one locally</a:t>
            </a:r>
            <a:endParaRPr lang="en-US" sz="1600" dirty="0"/>
          </a:p>
          <a:p>
            <a:pPr marL="228600" indent="-228600">
              <a:spcAft>
                <a:spcPts val="1000"/>
              </a:spcAft>
              <a:buSzPct val="100000"/>
              <a:buChar char="•"/>
            </a:pPr>
            <a:r>
              <a:rPr lang="en-US" sz="1600" dirty="0">
                <a:solidFill>
                  <a:schemeClr val="tx1"/>
                </a:solidFill>
              </a:rPr>
              <a:t>Clip limit 2.0 caps how much contrast is amplified</a:t>
            </a:r>
            <a:endParaRPr lang="en-US" sz="1600" dirty="0"/>
          </a:p>
          <a:p>
            <a:pPr marL="228600" indent="-228600">
              <a:spcAft>
                <a:spcPts val="1000"/>
              </a:spcAft>
              <a:buSzPct val="100000"/>
              <a:buChar char="•"/>
            </a:pPr>
            <a:r>
              <a:rPr lang="en-US" sz="1600" dirty="0">
                <a:solidFill>
                  <a:schemeClr val="tx1"/>
                </a:solidFill>
              </a:rPr>
              <a:t>Tile grid 8 × 8, applied to the luminance channel</a:t>
            </a:r>
            <a:endParaRPr lang="en-US" sz="1600" dirty="0"/>
          </a:p>
          <a:p>
            <a:pPr marL="228600" indent="-228600">
              <a:spcAft>
                <a:spcPts val="1000"/>
              </a:spcAft>
              <a:buSzPct val="100000"/>
              <a:buChar char="•"/>
            </a:pPr>
            <a:r>
              <a:rPr lang="en-US" sz="1600" dirty="0">
                <a:solidFill>
                  <a:schemeClr val="tx1"/>
                </a:solidFill>
              </a:rPr>
              <a:t>Interpolation hides the borders between tiles</a:t>
            </a:r>
            <a:endParaRPr lang="en-US" sz="1600" dirty="0"/>
          </a:p>
        </p:txBody>
      </p:sp>
      <p:sp>
        <p:nvSpPr>
          <p:cNvPr id="5" name="Shape 3"/>
          <p:cNvSpPr/>
          <p:nvPr/>
        </p:nvSpPr>
        <p:spPr>
          <a:xfrm>
            <a:off x="548640" y="4937760"/>
            <a:ext cx="3840480" cy="1051560"/>
          </a:xfrm>
          <a:prstGeom prst="roundRect">
            <a:avLst>
              <a:gd name="adj" fmla="val 6957"/>
            </a:avLst>
          </a:prstGeom>
          <a:solidFill>
            <a:schemeClr val="tx2"/>
          </a:solidFill>
          <a:ln w="12700">
            <a:solidFill>
              <a:schemeClr val="tx2"/>
            </a:solidFill>
            <a:prstDash val="solid"/>
          </a:ln>
        </p:spPr>
      </p:sp>
      <p:sp>
        <p:nvSpPr>
          <p:cNvPr id="6" name="Text 4"/>
          <p:cNvSpPr txBox="1"/>
          <p:nvPr/>
        </p:nvSpPr>
        <p:spPr>
          <a:xfrm>
            <a:off x="777240" y="5047488"/>
            <a:ext cx="3474720" cy="822960"/>
          </a:xfrm>
          <a:prstGeom prst="rect">
            <a:avLst/>
          </a:prstGeom>
          <a:noFill/>
          <a:ln/>
        </p:spPr>
        <p:txBody>
          <a:bodyPr wrap="square" lIns="0" tIns="0" rIns="0" bIns="0" rtlCol="0" anchor="ctr"/>
          <a:lstStyle/>
          <a:p>
            <a:pPr indent="0" marL="0">
              <a:buNone/>
            </a:pPr>
            <a:r>
              <a:rPr lang="en-US" sz="1100" dirty="0">
                <a:solidFill>
                  <a:schemeClr val="accent4"/>
                </a:solidFill>
              </a:rPr>
              <a:t>On LOL test set (eval15)</a:t>
            </a:r>
            <a:endParaRPr lang="en-US" sz="1100" dirty="0"/>
          </a:p>
          <a:p>
            <a:pPr indent="0" marL="0">
              <a:buNone/>
            </a:pPr>
            <a:r>
              <a:rPr lang="en-US" sz="1800" b="1" dirty="0">
                <a:solidFill>
                  <a:schemeClr val="bg1"/>
                </a:solidFill>
              </a:rPr>
              <a:t>PSNR 9.63 dB   ·   SSIM 0.3995</a:t>
            </a:r>
            <a:endParaRPr lang="en-US" sz="1100" dirty="0"/>
          </a:p>
        </p:txBody>
      </p:sp>
      <p:sp>
        <p:nvSpPr>
          <p:cNvPr id="7" name="Shape 5"/>
          <p:cNvSpPr/>
          <p:nvPr/>
        </p:nvSpPr>
        <p:spPr>
          <a:xfrm>
            <a:off x="6949440" y="1463040"/>
            <a:ext cx="530352" cy="530352"/>
          </a:xfrm>
          <a:prstGeom prst="rect">
            <a:avLst/>
          </a:prstGeom>
          <a:solidFill>
            <a:srgbClr val="DCE3ED"/>
          </a:solidFill>
          <a:ln w="12700">
            <a:solidFill>
              <a:schemeClr val="bg1"/>
            </a:solidFill>
            <a:prstDash val="solid"/>
          </a:ln>
        </p:spPr>
      </p:sp>
      <p:sp>
        <p:nvSpPr>
          <p:cNvPr id="8" name="Shape 6"/>
          <p:cNvSpPr/>
          <p:nvPr/>
        </p:nvSpPr>
        <p:spPr>
          <a:xfrm>
            <a:off x="7479792" y="1463040"/>
            <a:ext cx="530352" cy="530352"/>
          </a:xfrm>
          <a:prstGeom prst="rect">
            <a:avLst/>
          </a:prstGeom>
          <a:solidFill>
            <a:schemeClr val="bg2"/>
          </a:solidFill>
          <a:ln w="12700">
            <a:solidFill>
              <a:schemeClr val="bg1"/>
            </a:solidFill>
            <a:prstDash val="solid"/>
          </a:ln>
        </p:spPr>
      </p:sp>
      <p:sp>
        <p:nvSpPr>
          <p:cNvPr id="9" name="Shape 7"/>
          <p:cNvSpPr/>
          <p:nvPr/>
        </p:nvSpPr>
        <p:spPr>
          <a:xfrm>
            <a:off x="8010144" y="1463040"/>
            <a:ext cx="530352" cy="530352"/>
          </a:xfrm>
          <a:prstGeom prst="rect">
            <a:avLst/>
          </a:prstGeom>
          <a:solidFill>
            <a:srgbClr val="DCE3ED"/>
          </a:solidFill>
          <a:ln w="12700">
            <a:solidFill>
              <a:schemeClr val="bg1"/>
            </a:solidFill>
            <a:prstDash val="solid"/>
          </a:ln>
        </p:spPr>
      </p:sp>
      <p:sp>
        <p:nvSpPr>
          <p:cNvPr id="10" name="Shape 8"/>
          <p:cNvSpPr/>
          <p:nvPr/>
        </p:nvSpPr>
        <p:spPr>
          <a:xfrm>
            <a:off x="8540496" y="1463040"/>
            <a:ext cx="530352" cy="530352"/>
          </a:xfrm>
          <a:prstGeom prst="rect">
            <a:avLst/>
          </a:prstGeom>
          <a:solidFill>
            <a:schemeClr val="bg2"/>
          </a:solidFill>
          <a:ln w="12700">
            <a:solidFill>
              <a:schemeClr val="bg1"/>
            </a:solidFill>
            <a:prstDash val="solid"/>
          </a:ln>
        </p:spPr>
      </p:sp>
      <p:sp>
        <p:nvSpPr>
          <p:cNvPr id="11" name="Shape 9"/>
          <p:cNvSpPr/>
          <p:nvPr/>
        </p:nvSpPr>
        <p:spPr>
          <a:xfrm>
            <a:off x="9070848" y="1463040"/>
            <a:ext cx="530352" cy="530352"/>
          </a:xfrm>
          <a:prstGeom prst="rect">
            <a:avLst/>
          </a:prstGeom>
          <a:solidFill>
            <a:srgbClr val="DCE3ED"/>
          </a:solidFill>
          <a:ln w="12700">
            <a:solidFill>
              <a:schemeClr val="bg1"/>
            </a:solidFill>
            <a:prstDash val="solid"/>
          </a:ln>
        </p:spPr>
      </p:sp>
      <p:sp>
        <p:nvSpPr>
          <p:cNvPr id="12" name="Shape 10"/>
          <p:cNvSpPr/>
          <p:nvPr/>
        </p:nvSpPr>
        <p:spPr>
          <a:xfrm>
            <a:off x="9601200" y="1463040"/>
            <a:ext cx="530352" cy="530352"/>
          </a:xfrm>
          <a:prstGeom prst="rect">
            <a:avLst/>
          </a:prstGeom>
          <a:solidFill>
            <a:schemeClr val="bg2"/>
          </a:solidFill>
          <a:ln w="12700">
            <a:solidFill>
              <a:schemeClr val="bg1"/>
            </a:solidFill>
            <a:prstDash val="solid"/>
          </a:ln>
        </p:spPr>
      </p:sp>
      <p:sp>
        <p:nvSpPr>
          <p:cNvPr id="13" name="Shape 11"/>
          <p:cNvSpPr/>
          <p:nvPr/>
        </p:nvSpPr>
        <p:spPr>
          <a:xfrm>
            <a:off x="10131552" y="1463040"/>
            <a:ext cx="530352" cy="530352"/>
          </a:xfrm>
          <a:prstGeom prst="rect">
            <a:avLst/>
          </a:prstGeom>
          <a:solidFill>
            <a:srgbClr val="DCE3ED"/>
          </a:solidFill>
          <a:ln w="12700">
            <a:solidFill>
              <a:schemeClr val="bg1"/>
            </a:solidFill>
            <a:prstDash val="solid"/>
          </a:ln>
        </p:spPr>
      </p:sp>
      <p:sp>
        <p:nvSpPr>
          <p:cNvPr id="14" name="Shape 12"/>
          <p:cNvSpPr/>
          <p:nvPr/>
        </p:nvSpPr>
        <p:spPr>
          <a:xfrm>
            <a:off x="10661904" y="1463040"/>
            <a:ext cx="530352" cy="530352"/>
          </a:xfrm>
          <a:prstGeom prst="rect">
            <a:avLst/>
          </a:prstGeom>
          <a:solidFill>
            <a:schemeClr val="bg2"/>
          </a:solidFill>
          <a:ln w="12700">
            <a:solidFill>
              <a:schemeClr val="bg1"/>
            </a:solidFill>
            <a:prstDash val="solid"/>
          </a:ln>
        </p:spPr>
      </p:sp>
      <p:sp>
        <p:nvSpPr>
          <p:cNvPr id="15" name="Shape 13"/>
          <p:cNvSpPr/>
          <p:nvPr/>
        </p:nvSpPr>
        <p:spPr>
          <a:xfrm>
            <a:off x="6949440" y="1993392"/>
            <a:ext cx="530352" cy="530352"/>
          </a:xfrm>
          <a:prstGeom prst="rect">
            <a:avLst/>
          </a:prstGeom>
          <a:solidFill>
            <a:schemeClr val="bg2"/>
          </a:solidFill>
          <a:ln w="12700">
            <a:solidFill>
              <a:schemeClr val="bg1"/>
            </a:solidFill>
            <a:prstDash val="solid"/>
          </a:ln>
        </p:spPr>
      </p:sp>
      <p:sp>
        <p:nvSpPr>
          <p:cNvPr id="16" name="Shape 14"/>
          <p:cNvSpPr/>
          <p:nvPr/>
        </p:nvSpPr>
        <p:spPr>
          <a:xfrm>
            <a:off x="7479792" y="1993392"/>
            <a:ext cx="530352" cy="530352"/>
          </a:xfrm>
          <a:prstGeom prst="rect">
            <a:avLst/>
          </a:prstGeom>
          <a:solidFill>
            <a:srgbClr val="DCE3ED"/>
          </a:solidFill>
          <a:ln w="12700">
            <a:solidFill>
              <a:schemeClr val="bg1"/>
            </a:solidFill>
            <a:prstDash val="solid"/>
          </a:ln>
        </p:spPr>
      </p:sp>
      <p:sp>
        <p:nvSpPr>
          <p:cNvPr id="17" name="Shape 15"/>
          <p:cNvSpPr/>
          <p:nvPr/>
        </p:nvSpPr>
        <p:spPr>
          <a:xfrm>
            <a:off x="8010144" y="1993392"/>
            <a:ext cx="530352" cy="530352"/>
          </a:xfrm>
          <a:prstGeom prst="rect">
            <a:avLst/>
          </a:prstGeom>
          <a:solidFill>
            <a:schemeClr val="bg2"/>
          </a:solidFill>
          <a:ln w="12700">
            <a:solidFill>
              <a:schemeClr val="bg1"/>
            </a:solidFill>
            <a:prstDash val="solid"/>
          </a:ln>
        </p:spPr>
      </p:sp>
      <p:sp>
        <p:nvSpPr>
          <p:cNvPr id="18" name="Shape 16"/>
          <p:cNvSpPr/>
          <p:nvPr/>
        </p:nvSpPr>
        <p:spPr>
          <a:xfrm>
            <a:off x="8540496" y="1993392"/>
            <a:ext cx="530352" cy="530352"/>
          </a:xfrm>
          <a:prstGeom prst="rect">
            <a:avLst/>
          </a:prstGeom>
          <a:solidFill>
            <a:srgbClr val="DCE3ED"/>
          </a:solidFill>
          <a:ln w="12700">
            <a:solidFill>
              <a:schemeClr val="bg1"/>
            </a:solidFill>
            <a:prstDash val="solid"/>
          </a:ln>
        </p:spPr>
      </p:sp>
      <p:sp>
        <p:nvSpPr>
          <p:cNvPr id="19" name="Shape 17"/>
          <p:cNvSpPr/>
          <p:nvPr/>
        </p:nvSpPr>
        <p:spPr>
          <a:xfrm>
            <a:off x="9070848" y="1993392"/>
            <a:ext cx="530352" cy="530352"/>
          </a:xfrm>
          <a:prstGeom prst="rect">
            <a:avLst/>
          </a:prstGeom>
          <a:solidFill>
            <a:schemeClr val="bg2"/>
          </a:solidFill>
          <a:ln w="12700">
            <a:solidFill>
              <a:schemeClr val="bg1"/>
            </a:solidFill>
            <a:prstDash val="solid"/>
          </a:ln>
        </p:spPr>
      </p:sp>
      <p:sp>
        <p:nvSpPr>
          <p:cNvPr id="20" name="Shape 18"/>
          <p:cNvSpPr/>
          <p:nvPr/>
        </p:nvSpPr>
        <p:spPr>
          <a:xfrm>
            <a:off x="9601200" y="1993392"/>
            <a:ext cx="530352" cy="530352"/>
          </a:xfrm>
          <a:prstGeom prst="rect">
            <a:avLst/>
          </a:prstGeom>
          <a:solidFill>
            <a:srgbClr val="DCE3ED"/>
          </a:solidFill>
          <a:ln w="12700">
            <a:solidFill>
              <a:schemeClr val="bg1"/>
            </a:solidFill>
            <a:prstDash val="solid"/>
          </a:ln>
        </p:spPr>
      </p:sp>
      <p:sp>
        <p:nvSpPr>
          <p:cNvPr id="21" name="Shape 19"/>
          <p:cNvSpPr/>
          <p:nvPr/>
        </p:nvSpPr>
        <p:spPr>
          <a:xfrm>
            <a:off x="10131552" y="1993392"/>
            <a:ext cx="530352" cy="530352"/>
          </a:xfrm>
          <a:prstGeom prst="rect">
            <a:avLst/>
          </a:prstGeom>
          <a:solidFill>
            <a:schemeClr val="bg2"/>
          </a:solidFill>
          <a:ln w="12700">
            <a:solidFill>
              <a:schemeClr val="bg1"/>
            </a:solidFill>
            <a:prstDash val="solid"/>
          </a:ln>
        </p:spPr>
      </p:sp>
      <p:sp>
        <p:nvSpPr>
          <p:cNvPr id="22" name="Shape 20"/>
          <p:cNvSpPr/>
          <p:nvPr/>
        </p:nvSpPr>
        <p:spPr>
          <a:xfrm>
            <a:off x="10661904" y="1993392"/>
            <a:ext cx="530352" cy="530352"/>
          </a:xfrm>
          <a:prstGeom prst="rect">
            <a:avLst/>
          </a:prstGeom>
          <a:solidFill>
            <a:srgbClr val="DCE3ED"/>
          </a:solidFill>
          <a:ln w="12700">
            <a:solidFill>
              <a:schemeClr val="bg1"/>
            </a:solidFill>
            <a:prstDash val="solid"/>
          </a:ln>
        </p:spPr>
      </p:sp>
      <p:sp>
        <p:nvSpPr>
          <p:cNvPr id="23" name="Shape 21"/>
          <p:cNvSpPr/>
          <p:nvPr/>
        </p:nvSpPr>
        <p:spPr>
          <a:xfrm>
            <a:off x="6949440" y="2523744"/>
            <a:ext cx="530352" cy="530352"/>
          </a:xfrm>
          <a:prstGeom prst="rect">
            <a:avLst/>
          </a:prstGeom>
          <a:solidFill>
            <a:srgbClr val="DCE3ED"/>
          </a:solidFill>
          <a:ln w="12700">
            <a:solidFill>
              <a:schemeClr val="bg1"/>
            </a:solidFill>
            <a:prstDash val="solid"/>
          </a:ln>
        </p:spPr>
      </p:sp>
      <p:sp>
        <p:nvSpPr>
          <p:cNvPr id="24" name="Shape 22"/>
          <p:cNvSpPr/>
          <p:nvPr/>
        </p:nvSpPr>
        <p:spPr>
          <a:xfrm>
            <a:off x="7479792" y="2523744"/>
            <a:ext cx="530352" cy="530352"/>
          </a:xfrm>
          <a:prstGeom prst="rect">
            <a:avLst/>
          </a:prstGeom>
          <a:solidFill>
            <a:schemeClr val="bg2"/>
          </a:solidFill>
          <a:ln w="12700">
            <a:solidFill>
              <a:schemeClr val="bg1"/>
            </a:solidFill>
            <a:prstDash val="solid"/>
          </a:ln>
        </p:spPr>
      </p:sp>
      <p:sp>
        <p:nvSpPr>
          <p:cNvPr id="25" name="Shape 23"/>
          <p:cNvSpPr/>
          <p:nvPr/>
        </p:nvSpPr>
        <p:spPr>
          <a:xfrm>
            <a:off x="8010144" y="2523744"/>
            <a:ext cx="530352" cy="530352"/>
          </a:xfrm>
          <a:prstGeom prst="rect">
            <a:avLst/>
          </a:prstGeom>
          <a:solidFill>
            <a:srgbClr val="DCE3ED"/>
          </a:solidFill>
          <a:ln w="12700">
            <a:solidFill>
              <a:schemeClr val="bg1"/>
            </a:solidFill>
            <a:prstDash val="solid"/>
          </a:ln>
        </p:spPr>
      </p:sp>
      <p:sp>
        <p:nvSpPr>
          <p:cNvPr id="26" name="Shape 24"/>
          <p:cNvSpPr/>
          <p:nvPr/>
        </p:nvSpPr>
        <p:spPr>
          <a:xfrm>
            <a:off x="8540496" y="2523744"/>
            <a:ext cx="530352" cy="530352"/>
          </a:xfrm>
          <a:prstGeom prst="rect">
            <a:avLst/>
          </a:prstGeom>
          <a:solidFill>
            <a:schemeClr val="bg2"/>
          </a:solidFill>
          <a:ln w="12700">
            <a:solidFill>
              <a:schemeClr val="bg1"/>
            </a:solidFill>
            <a:prstDash val="solid"/>
          </a:ln>
        </p:spPr>
      </p:sp>
      <p:sp>
        <p:nvSpPr>
          <p:cNvPr id="27" name="Shape 25"/>
          <p:cNvSpPr/>
          <p:nvPr/>
        </p:nvSpPr>
        <p:spPr>
          <a:xfrm>
            <a:off x="9070848" y="2523744"/>
            <a:ext cx="530352" cy="530352"/>
          </a:xfrm>
          <a:prstGeom prst="rect">
            <a:avLst/>
          </a:prstGeom>
          <a:solidFill>
            <a:srgbClr val="DCE3ED"/>
          </a:solidFill>
          <a:ln w="12700">
            <a:solidFill>
              <a:schemeClr val="bg1"/>
            </a:solidFill>
            <a:prstDash val="solid"/>
          </a:ln>
        </p:spPr>
      </p:sp>
      <p:sp>
        <p:nvSpPr>
          <p:cNvPr id="28" name="Shape 26"/>
          <p:cNvSpPr/>
          <p:nvPr/>
        </p:nvSpPr>
        <p:spPr>
          <a:xfrm>
            <a:off x="9601200" y="2523744"/>
            <a:ext cx="530352" cy="530352"/>
          </a:xfrm>
          <a:prstGeom prst="rect">
            <a:avLst/>
          </a:prstGeom>
          <a:solidFill>
            <a:schemeClr val="accent1"/>
          </a:solidFill>
          <a:ln w="12700">
            <a:solidFill>
              <a:schemeClr val="bg1"/>
            </a:solidFill>
            <a:prstDash val="solid"/>
          </a:ln>
        </p:spPr>
      </p:sp>
      <p:sp>
        <p:nvSpPr>
          <p:cNvPr id="29" name="Shape 27"/>
          <p:cNvSpPr/>
          <p:nvPr/>
        </p:nvSpPr>
        <p:spPr>
          <a:xfrm>
            <a:off x="10131552" y="2523744"/>
            <a:ext cx="530352" cy="530352"/>
          </a:xfrm>
          <a:prstGeom prst="rect">
            <a:avLst/>
          </a:prstGeom>
          <a:solidFill>
            <a:srgbClr val="DCE3ED"/>
          </a:solidFill>
          <a:ln w="12700">
            <a:solidFill>
              <a:schemeClr val="bg1"/>
            </a:solidFill>
            <a:prstDash val="solid"/>
          </a:ln>
        </p:spPr>
      </p:sp>
      <p:sp>
        <p:nvSpPr>
          <p:cNvPr id="30" name="Shape 28"/>
          <p:cNvSpPr/>
          <p:nvPr/>
        </p:nvSpPr>
        <p:spPr>
          <a:xfrm>
            <a:off x="10661904" y="2523744"/>
            <a:ext cx="530352" cy="530352"/>
          </a:xfrm>
          <a:prstGeom prst="rect">
            <a:avLst/>
          </a:prstGeom>
          <a:solidFill>
            <a:schemeClr val="bg2"/>
          </a:solidFill>
          <a:ln w="12700">
            <a:solidFill>
              <a:schemeClr val="bg1"/>
            </a:solidFill>
            <a:prstDash val="solid"/>
          </a:ln>
        </p:spPr>
      </p:sp>
      <p:sp>
        <p:nvSpPr>
          <p:cNvPr id="31" name="Shape 29"/>
          <p:cNvSpPr/>
          <p:nvPr/>
        </p:nvSpPr>
        <p:spPr>
          <a:xfrm>
            <a:off x="6949440" y="3054096"/>
            <a:ext cx="530352" cy="530352"/>
          </a:xfrm>
          <a:prstGeom prst="rect">
            <a:avLst/>
          </a:prstGeom>
          <a:solidFill>
            <a:schemeClr val="bg2"/>
          </a:solidFill>
          <a:ln w="12700">
            <a:solidFill>
              <a:schemeClr val="bg1"/>
            </a:solidFill>
            <a:prstDash val="solid"/>
          </a:ln>
        </p:spPr>
      </p:sp>
      <p:sp>
        <p:nvSpPr>
          <p:cNvPr id="32" name="Shape 30"/>
          <p:cNvSpPr/>
          <p:nvPr/>
        </p:nvSpPr>
        <p:spPr>
          <a:xfrm>
            <a:off x="7479792" y="3054096"/>
            <a:ext cx="530352" cy="530352"/>
          </a:xfrm>
          <a:prstGeom prst="rect">
            <a:avLst/>
          </a:prstGeom>
          <a:solidFill>
            <a:srgbClr val="DCE3ED"/>
          </a:solidFill>
          <a:ln w="12700">
            <a:solidFill>
              <a:schemeClr val="bg1"/>
            </a:solidFill>
            <a:prstDash val="solid"/>
          </a:ln>
        </p:spPr>
      </p:sp>
      <p:sp>
        <p:nvSpPr>
          <p:cNvPr id="33" name="Shape 31"/>
          <p:cNvSpPr/>
          <p:nvPr/>
        </p:nvSpPr>
        <p:spPr>
          <a:xfrm>
            <a:off x="8010144" y="3054096"/>
            <a:ext cx="530352" cy="530352"/>
          </a:xfrm>
          <a:prstGeom prst="rect">
            <a:avLst/>
          </a:prstGeom>
          <a:solidFill>
            <a:schemeClr val="bg2"/>
          </a:solidFill>
          <a:ln w="12700">
            <a:solidFill>
              <a:schemeClr val="bg1"/>
            </a:solidFill>
            <a:prstDash val="solid"/>
          </a:ln>
        </p:spPr>
      </p:sp>
      <p:sp>
        <p:nvSpPr>
          <p:cNvPr id="34" name="Shape 32"/>
          <p:cNvSpPr/>
          <p:nvPr/>
        </p:nvSpPr>
        <p:spPr>
          <a:xfrm>
            <a:off x="8540496" y="3054096"/>
            <a:ext cx="530352" cy="530352"/>
          </a:xfrm>
          <a:prstGeom prst="rect">
            <a:avLst/>
          </a:prstGeom>
          <a:solidFill>
            <a:srgbClr val="DCE3ED"/>
          </a:solidFill>
          <a:ln w="12700">
            <a:solidFill>
              <a:schemeClr val="bg1"/>
            </a:solidFill>
            <a:prstDash val="solid"/>
          </a:ln>
        </p:spPr>
      </p:sp>
      <p:sp>
        <p:nvSpPr>
          <p:cNvPr id="35" name="Shape 33"/>
          <p:cNvSpPr/>
          <p:nvPr/>
        </p:nvSpPr>
        <p:spPr>
          <a:xfrm>
            <a:off x="9070848" y="3054096"/>
            <a:ext cx="530352" cy="530352"/>
          </a:xfrm>
          <a:prstGeom prst="rect">
            <a:avLst/>
          </a:prstGeom>
          <a:solidFill>
            <a:schemeClr val="bg2"/>
          </a:solidFill>
          <a:ln w="12700">
            <a:solidFill>
              <a:schemeClr val="bg1"/>
            </a:solidFill>
            <a:prstDash val="solid"/>
          </a:ln>
        </p:spPr>
      </p:sp>
      <p:sp>
        <p:nvSpPr>
          <p:cNvPr id="36" name="Shape 34"/>
          <p:cNvSpPr/>
          <p:nvPr/>
        </p:nvSpPr>
        <p:spPr>
          <a:xfrm>
            <a:off x="9601200" y="3054096"/>
            <a:ext cx="530352" cy="530352"/>
          </a:xfrm>
          <a:prstGeom prst="rect">
            <a:avLst/>
          </a:prstGeom>
          <a:solidFill>
            <a:srgbClr val="DCE3ED"/>
          </a:solidFill>
          <a:ln w="12700">
            <a:solidFill>
              <a:schemeClr val="bg1"/>
            </a:solidFill>
            <a:prstDash val="solid"/>
          </a:ln>
        </p:spPr>
      </p:sp>
      <p:sp>
        <p:nvSpPr>
          <p:cNvPr id="37" name="Shape 35"/>
          <p:cNvSpPr/>
          <p:nvPr/>
        </p:nvSpPr>
        <p:spPr>
          <a:xfrm>
            <a:off x="10131552" y="3054096"/>
            <a:ext cx="530352" cy="530352"/>
          </a:xfrm>
          <a:prstGeom prst="rect">
            <a:avLst/>
          </a:prstGeom>
          <a:solidFill>
            <a:schemeClr val="bg2"/>
          </a:solidFill>
          <a:ln w="12700">
            <a:solidFill>
              <a:schemeClr val="bg1"/>
            </a:solidFill>
            <a:prstDash val="solid"/>
          </a:ln>
        </p:spPr>
      </p:sp>
      <p:sp>
        <p:nvSpPr>
          <p:cNvPr id="38" name="Shape 36"/>
          <p:cNvSpPr/>
          <p:nvPr/>
        </p:nvSpPr>
        <p:spPr>
          <a:xfrm>
            <a:off x="10661904" y="3054096"/>
            <a:ext cx="530352" cy="530352"/>
          </a:xfrm>
          <a:prstGeom prst="rect">
            <a:avLst/>
          </a:prstGeom>
          <a:solidFill>
            <a:srgbClr val="DCE3ED"/>
          </a:solidFill>
          <a:ln w="12700">
            <a:solidFill>
              <a:schemeClr val="bg1"/>
            </a:solidFill>
            <a:prstDash val="solid"/>
          </a:ln>
        </p:spPr>
      </p:sp>
      <p:sp>
        <p:nvSpPr>
          <p:cNvPr id="39" name="Shape 37"/>
          <p:cNvSpPr/>
          <p:nvPr/>
        </p:nvSpPr>
        <p:spPr>
          <a:xfrm>
            <a:off x="6949440" y="3584448"/>
            <a:ext cx="530352" cy="530352"/>
          </a:xfrm>
          <a:prstGeom prst="rect">
            <a:avLst/>
          </a:prstGeom>
          <a:solidFill>
            <a:srgbClr val="DCE3ED"/>
          </a:solidFill>
          <a:ln w="12700">
            <a:solidFill>
              <a:schemeClr val="bg1"/>
            </a:solidFill>
            <a:prstDash val="solid"/>
          </a:ln>
        </p:spPr>
      </p:sp>
      <p:sp>
        <p:nvSpPr>
          <p:cNvPr id="40" name="Shape 38"/>
          <p:cNvSpPr/>
          <p:nvPr/>
        </p:nvSpPr>
        <p:spPr>
          <a:xfrm>
            <a:off x="7479792" y="3584448"/>
            <a:ext cx="530352" cy="530352"/>
          </a:xfrm>
          <a:prstGeom prst="rect">
            <a:avLst/>
          </a:prstGeom>
          <a:solidFill>
            <a:schemeClr val="bg2"/>
          </a:solidFill>
          <a:ln w="12700">
            <a:solidFill>
              <a:schemeClr val="bg1"/>
            </a:solidFill>
            <a:prstDash val="solid"/>
          </a:ln>
        </p:spPr>
      </p:sp>
      <p:sp>
        <p:nvSpPr>
          <p:cNvPr id="41" name="Shape 39"/>
          <p:cNvSpPr/>
          <p:nvPr/>
        </p:nvSpPr>
        <p:spPr>
          <a:xfrm>
            <a:off x="8010144" y="3584448"/>
            <a:ext cx="530352" cy="530352"/>
          </a:xfrm>
          <a:prstGeom prst="rect">
            <a:avLst/>
          </a:prstGeom>
          <a:solidFill>
            <a:srgbClr val="DCE3ED"/>
          </a:solidFill>
          <a:ln w="12700">
            <a:solidFill>
              <a:schemeClr val="bg1"/>
            </a:solidFill>
            <a:prstDash val="solid"/>
          </a:ln>
        </p:spPr>
      </p:sp>
      <p:sp>
        <p:nvSpPr>
          <p:cNvPr id="42" name="Shape 40"/>
          <p:cNvSpPr/>
          <p:nvPr/>
        </p:nvSpPr>
        <p:spPr>
          <a:xfrm>
            <a:off x="8540496" y="3584448"/>
            <a:ext cx="530352" cy="530352"/>
          </a:xfrm>
          <a:prstGeom prst="rect">
            <a:avLst/>
          </a:prstGeom>
          <a:solidFill>
            <a:schemeClr val="bg2"/>
          </a:solidFill>
          <a:ln w="12700">
            <a:solidFill>
              <a:schemeClr val="bg1"/>
            </a:solidFill>
            <a:prstDash val="solid"/>
          </a:ln>
        </p:spPr>
      </p:sp>
      <p:sp>
        <p:nvSpPr>
          <p:cNvPr id="43" name="Shape 41"/>
          <p:cNvSpPr/>
          <p:nvPr/>
        </p:nvSpPr>
        <p:spPr>
          <a:xfrm>
            <a:off x="9070848" y="3584448"/>
            <a:ext cx="530352" cy="530352"/>
          </a:xfrm>
          <a:prstGeom prst="rect">
            <a:avLst/>
          </a:prstGeom>
          <a:solidFill>
            <a:srgbClr val="DCE3ED"/>
          </a:solidFill>
          <a:ln w="12700">
            <a:solidFill>
              <a:schemeClr val="bg1"/>
            </a:solidFill>
            <a:prstDash val="solid"/>
          </a:ln>
        </p:spPr>
      </p:sp>
      <p:sp>
        <p:nvSpPr>
          <p:cNvPr id="44" name="Shape 42"/>
          <p:cNvSpPr/>
          <p:nvPr/>
        </p:nvSpPr>
        <p:spPr>
          <a:xfrm>
            <a:off x="9601200" y="3584448"/>
            <a:ext cx="530352" cy="530352"/>
          </a:xfrm>
          <a:prstGeom prst="rect">
            <a:avLst/>
          </a:prstGeom>
          <a:solidFill>
            <a:schemeClr val="bg2"/>
          </a:solidFill>
          <a:ln w="12700">
            <a:solidFill>
              <a:schemeClr val="bg1"/>
            </a:solidFill>
            <a:prstDash val="solid"/>
          </a:ln>
        </p:spPr>
      </p:sp>
      <p:sp>
        <p:nvSpPr>
          <p:cNvPr id="45" name="Shape 43"/>
          <p:cNvSpPr/>
          <p:nvPr/>
        </p:nvSpPr>
        <p:spPr>
          <a:xfrm>
            <a:off x="10131552" y="3584448"/>
            <a:ext cx="530352" cy="530352"/>
          </a:xfrm>
          <a:prstGeom prst="rect">
            <a:avLst/>
          </a:prstGeom>
          <a:solidFill>
            <a:srgbClr val="DCE3ED"/>
          </a:solidFill>
          <a:ln w="12700">
            <a:solidFill>
              <a:schemeClr val="bg1"/>
            </a:solidFill>
            <a:prstDash val="solid"/>
          </a:ln>
        </p:spPr>
      </p:sp>
      <p:sp>
        <p:nvSpPr>
          <p:cNvPr id="46" name="Shape 44"/>
          <p:cNvSpPr/>
          <p:nvPr/>
        </p:nvSpPr>
        <p:spPr>
          <a:xfrm>
            <a:off x="10661904" y="3584448"/>
            <a:ext cx="530352" cy="530352"/>
          </a:xfrm>
          <a:prstGeom prst="rect">
            <a:avLst/>
          </a:prstGeom>
          <a:solidFill>
            <a:schemeClr val="bg2"/>
          </a:solidFill>
          <a:ln w="12700">
            <a:solidFill>
              <a:schemeClr val="bg1"/>
            </a:solidFill>
            <a:prstDash val="solid"/>
          </a:ln>
        </p:spPr>
      </p:sp>
      <p:sp>
        <p:nvSpPr>
          <p:cNvPr id="47" name="Shape 45"/>
          <p:cNvSpPr/>
          <p:nvPr/>
        </p:nvSpPr>
        <p:spPr>
          <a:xfrm>
            <a:off x="6949440" y="4114800"/>
            <a:ext cx="530352" cy="530352"/>
          </a:xfrm>
          <a:prstGeom prst="rect">
            <a:avLst/>
          </a:prstGeom>
          <a:solidFill>
            <a:schemeClr val="bg2"/>
          </a:solidFill>
          <a:ln w="12700">
            <a:solidFill>
              <a:schemeClr val="bg1"/>
            </a:solidFill>
            <a:prstDash val="solid"/>
          </a:ln>
        </p:spPr>
      </p:sp>
      <p:sp>
        <p:nvSpPr>
          <p:cNvPr id="48" name="Shape 46"/>
          <p:cNvSpPr/>
          <p:nvPr/>
        </p:nvSpPr>
        <p:spPr>
          <a:xfrm>
            <a:off x="7479792" y="4114800"/>
            <a:ext cx="530352" cy="530352"/>
          </a:xfrm>
          <a:prstGeom prst="rect">
            <a:avLst/>
          </a:prstGeom>
          <a:solidFill>
            <a:srgbClr val="DCE3ED"/>
          </a:solidFill>
          <a:ln w="12700">
            <a:solidFill>
              <a:schemeClr val="bg1"/>
            </a:solidFill>
            <a:prstDash val="solid"/>
          </a:ln>
        </p:spPr>
      </p:sp>
      <p:sp>
        <p:nvSpPr>
          <p:cNvPr id="49" name="Shape 47"/>
          <p:cNvSpPr/>
          <p:nvPr/>
        </p:nvSpPr>
        <p:spPr>
          <a:xfrm>
            <a:off x="8010144" y="4114800"/>
            <a:ext cx="530352" cy="530352"/>
          </a:xfrm>
          <a:prstGeom prst="rect">
            <a:avLst/>
          </a:prstGeom>
          <a:solidFill>
            <a:schemeClr val="bg2"/>
          </a:solidFill>
          <a:ln w="12700">
            <a:solidFill>
              <a:schemeClr val="bg1"/>
            </a:solidFill>
            <a:prstDash val="solid"/>
          </a:ln>
        </p:spPr>
      </p:sp>
      <p:sp>
        <p:nvSpPr>
          <p:cNvPr id="50" name="Shape 48"/>
          <p:cNvSpPr/>
          <p:nvPr/>
        </p:nvSpPr>
        <p:spPr>
          <a:xfrm>
            <a:off x="8540496" y="4114800"/>
            <a:ext cx="530352" cy="530352"/>
          </a:xfrm>
          <a:prstGeom prst="rect">
            <a:avLst/>
          </a:prstGeom>
          <a:solidFill>
            <a:srgbClr val="DCE3ED"/>
          </a:solidFill>
          <a:ln w="12700">
            <a:solidFill>
              <a:schemeClr val="bg1"/>
            </a:solidFill>
            <a:prstDash val="solid"/>
          </a:ln>
        </p:spPr>
      </p:sp>
      <p:sp>
        <p:nvSpPr>
          <p:cNvPr id="51" name="Shape 49"/>
          <p:cNvSpPr/>
          <p:nvPr/>
        </p:nvSpPr>
        <p:spPr>
          <a:xfrm>
            <a:off x="9070848" y="4114800"/>
            <a:ext cx="530352" cy="530352"/>
          </a:xfrm>
          <a:prstGeom prst="rect">
            <a:avLst/>
          </a:prstGeom>
          <a:solidFill>
            <a:schemeClr val="bg2"/>
          </a:solidFill>
          <a:ln w="12700">
            <a:solidFill>
              <a:schemeClr val="bg1"/>
            </a:solidFill>
            <a:prstDash val="solid"/>
          </a:ln>
        </p:spPr>
      </p:sp>
      <p:sp>
        <p:nvSpPr>
          <p:cNvPr id="52" name="Shape 50"/>
          <p:cNvSpPr/>
          <p:nvPr/>
        </p:nvSpPr>
        <p:spPr>
          <a:xfrm>
            <a:off x="9601200" y="4114800"/>
            <a:ext cx="530352" cy="530352"/>
          </a:xfrm>
          <a:prstGeom prst="rect">
            <a:avLst/>
          </a:prstGeom>
          <a:solidFill>
            <a:srgbClr val="DCE3ED"/>
          </a:solidFill>
          <a:ln w="12700">
            <a:solidFill>
              <a:schemeClr val="bg1"/>
            </a:solidFill>
            <a:prstDash val="solid"/>
          </a:ln>
        </p:spPr>
      </p:sp>
      <p:sp>
        <p:nvSpPr>
          <p:cNvPr id="53" name="Shape 51"/>
          <p:cNvSpPr/>
          <p:nvPr/>
        </p:nvSpPr>
        <p:spPr>
          <a:xfrm>
            <a:off x="10131552" y="4114800"/>
            <a:ext cx="530352" cy="530352"/>
          </a:xfrm>
          <a:prstGeom prst="rect">
            <a:avLst/>
          </a:prstGeom>
          <a:solidFill>
            <a:schemeClr val="bg2"/>
          </a:solidFill>
          <a:ln w="12700">
            <a:solidFill>
              <a:schemeClr val="bg1"/>
            </a:solidFill>
            <a:prstDash val="solid"/>
          </a:ln>
        </p:spPr>
      </p:sp>
      <p:sp>
        <p:nvSpPr>
          <p:cNvPr id="54" name="Shape 52"/>
          <p:cNvSpPr/>
          <p:nvPr/>
        </p:nvSpPr>
        <p:spPr>
          <a:xfrm>
            <a:off x="10661904" y="4114800"/>
            <a:ext cx="530352" cy="530352"/>
          </a:xfrm>
          <a:prstGeom prst="rect">
            <a:avLst/>
          </a:prstGeom>
          <a:solidFill>
            <a:srgbClr val="DCE3ED"/>
          </a:solidFill>
          <a:ln w="12700">
            <a:solidFill>
              <a:schemeClr val="bg1"/>
            </a:solidFill>
            <a:prstDash val="solid"/>
          </a:ln>
        </p:spPr>
      </p:sp>
      <p:sp>
        <p:nvSpPr>
          <p:cNvPr id="55" name="Shape 53"/>
          <p:cNvSpPr/>
          <p:nvPr/>
        </p:nvSpPr>
        <p:spPr>
          <a:xfrm>
            <a:off x="6949440" y="4645152"/>
            <a:ext cx="530352" cy="530352"/>
          </a:xfrm>
          <a:prstGeom prst="rect">
            <a:avLst/>
          </a:prstGeom>
          <a:solidFill>
            <a:srgbClr val="DCE3ED"/>
          </a:solidFill>
          <a:ln w="12700">
            <a:solidFill>
              <a:schemeClr val="bg1"/>
            </a:solidFill>
            <a:prstDash val="solid"/>
          </a:ln>
        </p:spPr>
      </p:sp>
      <p:sp>
        <p:nvSpPr>
          <p:cNvPr id="56" name="Shape 54"/>
          <p:cNvSpPr/>
          <p:nvPr/>
        </p:nvSpPr>
        <p:spPr>
          <a:xfrm>
            <a:off x="7479792" y="4645152"/>
            <a:ext cx="530352" cy="530352"/>
          </a:xfrm>
          <a:prstGeom prst="rect">
            <a:avLst/>
          </a:prstGeom>
          <a:solidFill>
            <a:schemeClr val="bg2"/>
          </a:solidFill>
          <a:ln w="12700">
            <a:solidFill>
              <a:schemeClr val="bg1"/>
            </a:solidFill>
            <a:prstDash val="solid"/>
          </a:ln>
        </p:spPr>
      </p:sp>
      <p:sp>
        <p:nvSpPr>
          <p:cNvPr id="57" name="Shape 55"/>
          <p:cNvSpPr/>
          <p:nvPr/>
        </p:nvSpPr>
        <p:spPr>
          <a:xfrm>
            <a:off x="8010144" y="4645152"/>
            <a:ext cx="530352" cy="530352"/>
          </a:xfrm>
          <a:prstGeom prst="rect">
            <a:avLst/>
          </a:prstGeom>
          <a:solidFill>
            <a:srgbClr val="DCE3ED"/>
          </a:solidFill>
          <a:ln w="12700">
            <a:solidFill>
              <a:schemeClr val="bg1"/>
            </a:solidFill>
            <a:prstDash val="solid"/>
          </a:ln>
        </p:spPr>
      </p:sp>
      <p:sp>
        <p:nvSpPr>
          <p:cNvPr id="58" name="Shape 56"/>
          <p:cNvSpPr/>
          <p:nvPr/>
        </p:nvSpPr>
        <p:spPr>
          <a:xfrm>
            <a:off x="8540496" y="4645152"/>
            <a:ext cx="530352" cy="530352"/>
          </a:xfrm>
          <a:prstGeom prst="rect">
            <a:avLst/>
          </a:prstGeom>
          <a:solidFill>
            <a:schemeClr val="bg2"/>
          </a:solidFill>
          <a:ln w="12700">
            <a:solidFill>
              <a:schemeClr val="bg1"/>
            </a:solidFill>
            <a:prstDash val="solid"/>
          </a:ln>
        </p:spPr>
      </p:sp>
      <p:sp>
        <p:nvSpPr>
          <p:cNvPr id="59" name="Shape 57"/>
          <p:cNvSpPr/>
          <p:nvPr/>
        </p:nvSpPr>
        <p:spPr>
          <a:xfrm>
            <a:off x="9070848" y="4645152"/>
            <a:ext cx="530352" cy="530352"/>
          </a:xfrm>
          <a:prstGeom prst="rect">
            <a:avLst/>
          </a:prstGeom>
          <a:solidFill>
            <a:srgbClr val="DCE3ED"/>
          </a:solidFill>
          <a:ln w="12700">
            <a:solidFill>
              <a:schemeClr val="bg1"/>
            </a:solidFill>
            <a:prstDash val="solid"/>
          </a:ln>
        </p:spPr>
      </p:sp>
      <p:sp>
        <p:nvSpPr>
          <p:cNvPr id="60" name="Shape 58"/>
          <p:cNvSpPr/>
          <p:nvPr/>
        </p:nvSpPr>
        <p:spPr>
          <a:xfrm>
            <a:off x="9601200" y="4645152"/>
            <a:ext cx="530352" cy="530352"/>
          </a:xfrm>
          <a:prstGeom prst="rect">
            <a:avLst/>
          </a:prstGeom>
          <a:solidFill>
            <a:schemeClr val="bg2"/>
          </a:solidFill>
          <a:ln w="12700">
            <a:solidFill>
              <a:schemeClr val="bg1"/>
            </a:solidFill>
            <a:prstDash val="solid"/>
          </a:ln>
        </p:spPr>
      </p:sp>
      <p:sp>
        <p:nvSpPr>
          <p:cNvPr id="61" name="Shape 59"/>
          <p:cNvSpPr/>
          <p:nvPr/>
        </p:nvSpPr>
        <p:spPr>
          <a:xfrm>
            <a:off x="10131552" y="4645152"/>
            <a:ext cx="530352" cy="530352"/>
          </a:xfrm>
          <a:prstGeom prst="rect">
            <a:avLst/>
          </a:prstGeom>
          <a:solidFill>
            <a:srgbClr val="DCE3ED"/>
          </a:solidFill>
          <a:ln w="12700">
            <a:solidFill>
              <a:schemeClr val="bg1"/>
            </a:solidFill>
            <a:prstDash val="solid"/>
          </a:ln>
        </p:spPr>
      </p:sp>
      <p:sp>
        <p:nvSpPr>
          <p:cNvPr id="62" name="Shape 60"/>
          <p:cNvSpPr/>
          <p:nvPr/>
        </p:nvSpPr>
        <p:spPr>
          <a:xfrm>
            <a:off x="10661904" y="4645152"/>
            <a:ext cx="530352" cy="530352"/>
          </a:xfrm>
          <a:prstGeom prst="rect">
            <a:avLst/>
          </a:prstGeom>
          <a:solidFill>
            <a:schemeClr val="bg2"/>
          </a:solidFill>
          <a:ln w="12700">
            <a:solidFill>
              <a:schemeClr val="bg1"/>
            </a:solidFill>
            <a:prstDash val="solid"/>
          </a:ln>
        </p:spPr>
      </p:sp>
      <p:sp>
        <p:nvSpPr>
          <p:cNvPr id="63" name="Shape 61"/>
          <p:cNvSpPr/>
          <p:nvPr/>
        </p:nvSpPr>
        <p:spPr>
          <a:xfrm>
            <a:off x="6949440" y="5175504"/>
            <a:ext cx="530352" cy="530352"/>
          </a:xfrm>
          <a:prstGeom prst="rect">
            <a:avLst/>
          </a:prstGeom>
          <a:solidFill>
            <a:schemeClr val="bg2"/>
          </a:solidFill>
          <a:ln w="12700">
            <a:solidFill>
              <a:schemeClr val="bg1"/>
            </a:solidFill>
            <a:prstDash val="solid"/>
          </a:ln>
        </p:spPr>
      </p:sp>
      <p:sp>
        <p:nvSpPr>
          <p:cNvPr id="64" name="Shape 62"/>
          <p:cNvSpPr/>
          <p:nvPr/>
        </p:nvSpPr>
        <p:spPr>
          <a:xfrm>
            <a:off x="7479792" y="5175504"/>
            <a:ext cx="530352" cy="530352"/>
          </a:xfrm>
          <a:prstGeom prst="rect">
            <a:avLst/>
          </a:prstGeom>
          <a:solidFill>
            <a:srgbClr val="DCE3ED"/>
          </a:solidFill>
          <a:ln w="12700">
            <a:solidFill>
              <a:schemeClr val="bg1"/>
            </a:solidFill>
            <a:prstDash val="solid"/>
          </a:ln>
        </p:spPr>
      </p:sp>
      <p:sp>
        <p:nvSpPr>
          <p:cNvPr id="65" name="Shape 63"/>
          <p:cNvSpPr/>
          <p:nvPr/>
        </p:nvSpPr>
        <p:spPr>
          <a:xfrm>
            <a:off x="8010144" y="5175504"/>
            <a:ext cx="530352" cy="530352"/>
          </a:xfrm>
          <a:prstGeom prst="rect">
            <a:avLst/>
          </a:prstGeom>
          <a:solidFill>
            <a:schemeClr val="bg2"/>
          </a:solidFill>
          <a:ln w="12700">
            <a:solidFill>
              <a:schemeClr val="bg1"/>
            </a:solidFill>
            <a:prstDash val="solid"/>
          </a:ln>
        </p:spPr>
      </p:sp>
      <p:sp>
        <p:nvSpPr>
          <p:cNvPr id="66" name="Shape 64"/>
          <p:cNvSpPr/>
          <p:nvPr/>
        </p:nvSpPr>
        <p:spPr>
          <a:xfrm>
            <a:off x="8540496" y="5175504"/>
            <a:ext cx="530352" cy="530352"/>
          </a:xfrm>
          <a:prstGeom prst="rect">
            <a:avLst/>
          </a:prstGeom>
          <a:solidFill>
            <a:srgbClr val="DCE3ED"/>
          </a:solidFill>
          <a:ln w="12700">
            <a:solidFill>
              <a:schemeClr val="bg1"/>
            </a:solidFill>
            <a:prstDash val="solid"/>
          </a:ln>
        </p:spPr>
      </p:sp>
      <p:sp>
        <p:nvSpPr>
          <p:cNvPr id="67" name="Shape 65"/>
          <p:cNvSpPr/>
          <p:nvPr/>
        </p:nvSpPr>
        <p:spPr>
          <a:xfrm>
            <a:off x="9070848" y="5175504"/>
            <a:ext cx="530352" cy="530352"/>
          </a:xfrm>
          <a:prstGeom prst="rect">
            <a:avLst/>
          </a:prstGeom>
          <a:solidFill>
            <a:schemeClr val="bg2"/>
          </a:solidFill>
          <a:ln w="12700">
            <a:solidFill>
              <a:schemeClr val="bg1"/>
            </a:solidFill>
            <a:prstDash val="solid"/>
          </a:ln>
        </p:spPr>
      </p:sp>
      <p:sp>
        <p:nvSpPr>
          <p:cNvPr id="68" name="Shape 66"/>
          <p:cNvSpPr/>
          <p:nvPr/>
        </p:nvSpPr>
        <p:spPr>
          <a:xfrm>
            <a:off x="9601200" y="5175504"/>
            <a:ext cx="530352" cy="530352"/>
          </a:xfrm>
          <a:prstGeom prst="rect">
            <a:avLst/>
          </a:prstGeom>
          <a:solidFill>
            <a:srgbClr val="DCE3ED"/>
          </a:solidFill>
          <a:ln w="12700">
            <a:solidFill>
              <a:schemeClr val="bg1"/>
            </a:solidFill>
            <a:prstDash val="solid"/>
          </a:ln>
        </p:spPr>
      </p:sp>
      <p:sp>
        <p:nvSpPr>
          <p:cNvPr id="69" name="Shape 67"/>
          <p:cNvSpPr/>
          <p:nvPr/>
        </p:nvSpPr>
        <p:spPr>
          <a:xfrm>
            <a:off x="10131552" y="5175504"/>
            <a:ext cx="530352" cy="530352"/>
          </a:xfrm>
          <a:prstGeom prst="rect">
            <a:avLst/>
          </a:prstGeom>
          <a:solidFill>
            <a:schemeClr val="bg2"/>
          </a:solidFill>
          <a:ln w="12700">
            <a:solidFill>
              <a:schemeClr val="bg1"/>
            </a:solidFill>
            <a:prstDash val="solid"/>
          </a:ln>
        </p:spPr>
      </p:sp>
      <p:sp>
        <p:nvSpPr>
          <p:cNvPr id="70" name="Shape 68"/>
          <p:cNvSpPr/>
          <p:nvPr/>
        </p:nvSpPr>
        <p:spPr>
          <a:xfrm>
            <a:off x="10661904" y="5175504"/>
            <a:ext cx="530352" cy="530352"/>
          </a:xfrm>
          <a:prstGeom prst="rect">
            <a:avLst/>
          </a:prstGeom>
          <a:solidFill>
            <a:srgbClr val="DCE3ED"/>
          </a:solidFill>
          <a:ln w="12700">
            <a:solidFill>
              <a:schemeClr val="bg1"/>
            </a:solidFill>
            <a:prstDash val="solid"/>
          </a:ln>
        </p:spPr>
      </p:sp>
      <p:sp>
        <p:nvSpPr>
          <p:cNvPr id="71" name="Text 69"/>
          <p:cNvSpPr txBox="1"/>
          <p:nvPr/>
        </p:nvSpPr>
        <p:spPr>
          <a:xfrm>
            <a:off x="6949440" y="5843016"/>
            <a:ext cx="4242816" cy="320040"/>
          </a:xfrm>
          <a:prstGeom prst="rect">
            <a:avLst/>
          </a:prstGeom>
          <a:noFill/>
          <a:ln/>
        </p:spPr>
        <p:txBody>
          <a:bodyPr wrap="square" lIns="0" tIns="0" rIns="0" bIns="0" rtlCol="0" anchor="ctr"/>
          <a:lstStyle/>
          <a:p>
            <a:pPr algn="ctr" indent="0" marL="0">
              <a:buNone/>
            </a:pPr>
            <a:r>
              <a:rPr lang="en-US" sz="1100" i="1" dirty="0">
                <a:solidFill>
                  <a:schemeClr val="accent5"/>
                </a:solidFill>
              </a:rPr>
              <a:t>8 × 8 tiles: each (e.g. the highlighted one) gets its own clipped histogram equalization</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4 · Single-Scale Retinex (SSR)</a:t>
            </a:r>
            <a:endParaRPr lang="en-US" sz="3200" dirty="0"/>
          </a:p>
        </p:txBody>
      </p:sp>
      <p:sp>
        <p:nvSpPr>
          <p:cNvPr id="3" name="Shape 1"/>
          <p:cNvSpPr/>
          <p:nvPr/>
        </p:nvSpPr>
        <p:spPr>
          <a:xfrm>
            <a:off x="548640" y="1417320"/>
            <a:ext cx="11091672" cy="822960"/>
          </a:xfrm>
          <a:prstGeom prst="roundRect">
            <a:avLst>
              <a:gd name="adj" fmla="val 8889"/>
            </a:avLst>
          </a:prstGeom>
          <a:solidFill>
            <a:schemeClr val="bg2"/>
          </a:solidFill>
          <a:ln w="12700">
            <a:solidFill>
              <a:schemeClr val="bg2"/>
            </a:solidFill>
            <a:prstDash val="solid"/>
          </a:ln>
        </p:spPr>
      </p:sp>
      <p:sp>
        <p:nvSpPr>
          <p:cNvPr id="4" name="Text 2"/>
          <p:cNvSpPr txBox="1"/>
          <p:nvPr/>
        </p:nvSpPr>
        <p:spPr>
          <a:xfrm>
            <a:off x="548640" y="1417320"/>
            <a:ext cx="11091672" cy="822960"/>
          </a:xfrm>
          <a:prstGeom prst="rect">
            <a:avLst/>
          </a:prstGeom>
          <a:noFill/>
          <a:ln/>
        </p:spPr>
        <p:txBody>
          <a:bodyPr wrap="square" lIns="0" tIns="0" rIns="0" bIns="0" rtlCol="0" anchor="ctr"/>
          <a:lstStyle/>
          <a:p>
            <a:pPr algn="ctr" indent="0" marL="0">
              <a:buNone/>
            </a:pPr>
            <a:r>
              <a:rPr lang="en-US" sz="2200" i="1" dirty="0">
                <a:solidFill>
                  <a:schemeClr val="tx2"/>
                </a:solidFill>
                <a:latin typeface="Cambria" pitchFamily="34" charset="0"/>
                <a:ea typeface="Cambria" pitchFamily="34" charset="-122"/>
                <a:cs typeface="Cambria" pitchFamily="34" charset="-120"/>
              </a:rPr>
              <a:t>R(x,y) = log I(x,y) − log [ G(x,y) * I(x,y) ]</a:t>
            </a:r>
            <a:endParaRPr lang="en-US" sz="2200" dirty="0"/>
          </a:p>
        </p:txBody>
      </p:sp>
      <p:sp>
        <p:nvSpPr>
          <p:cNvPr id="5" name="Text 3"/>
          <p:cNvSpPr txBox="1"/>
          <p:nvPr/>
        </p:nvSpPr>
        <p:spPr>
          <a:xfrm>
            <a:off x="548640" y="2606040"/>
            <a:ext cx="5394960" cy="22860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Image = illumination × reflectance</a:t>
            </a:r>
            <a:endParaRPr lang="en-US" sz="1500" dirty="0"/>
          </a:p>
          <a:p>
            <a:pPr marL="228600" indent="-228600">
              <a:spcAft>
                <a:spcPts val="600"/>
              </a:spcAft>
              <a:buSzPct val="100000"/>
              <a:buChar char="•"/>
            </a:pPr>
            <a:r>
              <a:rPr lang="en-US" sz="1500" dirty="0">
                <a:solidFill>
                  <a:schemeClr val="tx1"/>
                </a:solidFill>
              </a:rPr>
              <a:t>Gaussian blur estimates the illumination</a:t>
            </a:r>
            <a:endParaRPr lang="en-US" sz="1500" dirty="0"/>
          </a:p>
          <a:p>
            <a:pPr marL="228600" indent="-228600">
              <a:spcAft>
                <a:spcPts val="600"/>
              </a:spcAft>
              <a:buSzPct val="100000"/>
              <a:buChar char="•"/>
            </a:pPr>
            <a:r>
              <a:rPr lang="en-US" sz="1500" dirty="0">
                <a:solidFill>
                  <a:schemeClr val="tx1"/>
                </a:solidFill>
              </a:rPr>
              <a:t>Subtracting it in log space keeps the reflectance (detail)</a:t>
            </a:r>
            <a:endParaRPr lang="en-US" sz="1500" dirty="0"/>
          </a:p>
          <a:p>
            <a:pPr marL="228600" indent="-228600">
              <a:spcAft>
                <a:spcPts val="600"/>
              </a:spcAft>
              <a:buSzPct val="100000"/>
              <a:buChar char="•"/>
            </a:pPr>
            <a:r>
              <a:rPr lang="en-US" sz="1500" dirty="0">
                <a:solidFill>
                  <a:schemeClr val="tx1"/>
                </a:solidFill>
              </a:rPr>
              <a:t>Gaussian scale σ = 30</a:t>
            </a:r>
            <a:endParaRPr lang="en-US" sz="1500" dirty="0"/>
          </a:p>
          <a:p>
            <a:pPr marL="228600" indent="-228600">
              <a:spcAft>
                <a:spcPts val="600"/>
              </a:spcAft>
              <a:buSzPct val="100000"/>
              <a:buChar char="•"/>
            </a:pPr>
            <a:r>
              <a:rPr lang="en-US" sz="1500" dirty="0">
                <a:solidFill>
                  <a:schemeClr val="tx1"/>
                </a:solidFill>
              </a:rPr>
              <a:t>One scale can't treat fine and large details equally well</a:t>
            </a:r>
            <a:endParaRPr lang="en-US" sz="1500" dirty="0"/>
          </a:p>
        </p:txBody>
      </p:sp>
      <p:sp>
        <p:nvSpPr>
          <p:cNvPr id="6" name="Shape 4"/>
          <p:cNvSpPr/>
          <p:nvPr/>
        </p:nvSpPr>
        <p:spPr>
          <a:xfrm>
            <a:off x="548640" y="4937760"/>
            <a:ext cx="3840480" cy="1051560"/>
          </a:xfrm>
          <a:prstGeom prst="roundRect">
            <a:avLst>
              <a:gd name="adj" fmla="val 6957"/>
            </a:avLst>
          </a:prstGeom>
          <a:solidFill>
            <a:schemeClr val="tx2"/>
          </a:solidFill>
          <a:ln w="12700">
            <a:solidFill>
              <a:schemeClr val="tx2"/>
            </a:solidFill>
            <a:prstDash val="solid"/>
          </a:ln>
        </p:spPr>
      </p:sp>
      <p:sp>
        <p:nvSpPr>
          <p:cNvPr id="7" name="Text 5"/>
          <p:cNvSpPr txBox="1"/>
          <p:nvPr/>
        </p:nvSpPr>
        <p:spPr>
          <a:xfrm>
            <a:off x="777240" y="5047488"/>
            <a:ext cx="3474720" cy="822960"/>
          </a:xfrm>
          <a:prstGeom prst="rect">
            <a:avLst/>
          </a:prstGeom>
          <a:noFill/>
          <a:ln/>
        </p:spPr>
        <p:txBody>
          <a:bodyPr wrap="square" lIns="0" tIns="0" rIns="0" bIns="0" rtlCol="0" anchor="ctr"/>
          <a:lstStyle/>
          <a:p>
            <a:pPr indent="0" marL="0">
              <a:buNone/>
            </a:pPr>
            <a:r>
              <a:rPr lang="en-US" sz="1100" dirty="0">
                <a:solidFill>
                  <a:schemeClr val="accent4"/>
                </a:solidFill>
              </a:rPr>
              <a:t>On LOL test set (eval15)</a:t>
            </a:r>
            <a:endParaRPr lang="en-US" sz="1100" dirty="0"/>
          </a:p>
          <a:p>
            <a:pPr indent="0" marL="0">
              <a:buNone/>
            </a:pPr>
            <a:r>
              <a:rPr lang="en-US" sz="1800" b="1" dirty="0">
                <a:solidFill>
                  <a:schemeClr val="bg1"/>
                </a:solidFill>
              </a:rPr>
              <a:t>PSNR 13.79 dB   ·   SSIM 0.5875</a:t>
            </a:r>
            <a:endParaRPr lang="en-US" sz="1100" dirty="0"/>
          </a:p>
        </p:txBody>
      </p:sp>
      <p:sp>
        <p:nvSpPr>
          <p:cNvPr id="8" name="Shape 6"/>
          <p:cNvSpPr/>
          <p:nvPr/>
        </p:nvSpPr>
        <p:spPr>
          <a:xfrm>
            <a:off x="6309360" y="2743200"/>
            <a:ext cx="1188720" cy="914400"/>
          </a:xfrm>
          <a:prstGeom prst="roundRect">
            <a:avLst>
              <a:gd name="adj" fmla="val 8000"/>
            </a:avLst>
          </a:prstGeom>
          <a:solidFill>
            <a:schemeClr val="bg2"/>
          </a:solidFill>
          <a:ln w="12700">
            <a:solidFill>
              <a:schemeClr val="bg2"/>
            </a:solidFill>
            <a:prstDash val="solid"/>
          </a:ln>
        </p:spPr>
      </p:sp>
      <p:sp>
        <p:nvSpPr>
          <p:cNvPr id="9" name="Text 7"/>
          <p:cNvSpPr txBox="1"/>
          <p:nvPr/>
        </p:nvSpPr>
        <p:spPr>
          <a:xfrm>
            <a:off x="6309360" y="2743200"/>
            <a:ext cx="1188720" cy="914400"/>
          </a:xfrm>
          <a:prstGeom prst="rect">
            <a:avLst/>
          </a:prstGeom>
          <a:noFill/>
          <a:ln/>
        </p:spPr>
        <p:txBody>
          <a:bodyPr wrap="square" lIns="0" tIns="0" rIns="0" bIns="0" rtlCol="0" anchor="ctr"/>
          <a:lstStyle/>
          <a:p>
            <a:pPr algn="ctr" indent="0" marL="0">
              <a:buNone/>
            </a:pPr>
            <a:r>
              <a:rPr lang="en-US" sz="1300" b="1" dirty="0">
                <a:solidFill>
                  <a:schemeClr val="tx2"/>
                </a:solidFill>
              </a:rPr>
              <a:t>Input I</a:t>
            </a:r>
            <a:endParaRPr lang="en-US" sz="1300" dirty="0"/>
          </a:p>
        </p:txBody>
      </p:sp>
      <p:sp>
        <p:nvSpPr>
          <p:cNvPr id="10" name="Shape 8"/>
          <p:cNvSpPr/>
          <p:nvPr/>
        </p:nvSpPr>
        <p:spPr>
          <a:xfrm>
            <a:off x="7534656" y="3200400"/>
            <a:ext cx="128016" cy="0"/>
          </a:xfrm>
          <a:prstGeom prst="line">
            <a:avLst/>
          </a:prstGeom>
          <a:noFill/>
          <a:ln w="25400">
            <a:solidFill>
              <a:schemeClr val="accent3"/>
            </a:solidFill>
            <a:prstDash val="solid"/>
            <a:tailEnd type="triangle"/>
          </a:ln>
        </p:spPr>
      </p:sp>
      <p:sp>
        <p:nvSpPr>
          <p:cNvPr id="11" name="Shape 9"/>
          <p:cNvSpPr/>
          <p:nvPr/>
        </p:nvSpPr>
        <p:spPr>
          <a:xfrm>
            <a:off x="7699248" y="2743200"/>
            <a:ext cx="1188720" cy="914400"/>
          </a:xfrm>
          <a:prstGeom prst="roundRect">
            <a:avLst>
              <a:gd name="adj" fmla="val 8000"/>
            </a:avLst>
          </a:prstGeom>
          <a:solidFill>
            <a:schemeClr val="bg2"/>
          </a:solidFill>
          <a:ln w="12700">
            <a:solidFill>
              <a:schemeClr val="bg2"/>
            </a:solidFill>
            <a:prstDash val="solid"/>
          </a:ln>
        </p:spPr>
      </p:sp>
      <p:sp>
        <p:nvSpPr>
          <p:cNvPr id="12" name="Text 10"/>
          <p:cNvSpPr txBox="1"/>
          <p:nvPr/>
        </p:nvSpPr>
        <p:spPr>
          <a:xfrm>
            <a:off x="7699248" y="2743200"/>
            <a:ext cx="1188720" cy="914400"/>
          </a:xfrm>
          <a:prstGeom prst="rect">
            <a:avLst/>
          </a:prstGeom>
          <a:noFill/>
          <a:ln/>
        </p:spPr>
        <p:txBody>
          <a:bodyPr wrap="square" lIns="0" tIns="0" rIns="0" bIns="0" rtlCol="0" anchor="ctr"/>
          <a:lstStyle/>
          <a:p>
            <a:pPr algn="ctr" indent="0" marL="0">
              <a:buNone/>
            </a:pPr>
            <a:r>
              <a:rPr lang="en-US" sz="1300" b="1" dirty="0">
                <a:solidFill>
                  <a:schemeClr val="tx2"/>
                </a:solidFill>
              </a:rPr>
              <a:t>Gaussian blur</a:t>
            </a:r>
            <a:endParaRPr lang="en-US" sz="1300" dirty="0"/>
          </a:p>
          <a:p>
            <a:pPr algn="ctr" indent="0" marL="0">
              <a:buNone/>
            </a:pPr>
            <a:r>
              <a:rPr lang="en-US" sz="1300" b="1" dirty="0">
                <a:solidFill>
                  <a:schemeClr val="tx2"/>
                </a:solidFill>
              </a:rPr>
              <a:t>σ = 30</a:t>
            </a:r>
            <a:endParaRPr lang="en-US" sz="1300" dirty="0"/>
          </a:p>
        </p:txBody>
      </p:sp>
      <p:sp>
        <p:nvSpPr>
          <p:cNvPr id="13" name="Shape 11"/>
          <p:cNvSpPr/>
          <p:nvPr/>
        </p:nvSpPr>
        <p:spPr>
          <a:xfrm>
            <a:off x="8924544" y="3200400"/>
            <a:ext cx="128016" cy="0"/>
          </a:xfrm>
          <a:prstGeom prst="line">
            <a:avLst/>
          </a:prstGeom>
          <a:noFill/>
          <a:ln w="25400">
            <a:solidFill>
              <a:schemeClr val="accent3"/>
            </a:solidFill>
            <a:prstDash val="solid"/>
            <a:tailEnd type="triangle"/>
          </a:ln>
        </p:spPr>
      </p:sp>
      <p:sp>
        <p:nvSpPr>
          <p:cNvPr id="14" name="Shape 12"/>
          <p:cNvSpPr/>
          <p:nvPr/>
        </p:nvSpPr>
        <p:spPr>
          <a:xfrm>
            <a:off x="9089136" y="2743200"/>
            <a:ext cx="1188720" cy="914400"/>
          </a:xfrm>
          <a:prstGeom prst="roundRect">
            <a:avLst>
              <a:gd name="adj" fmla="val 8000"/>
            </a:avLst>
          </a:prstGeom>
          <a:solidFill>
            <a:schemeClr val="bg2"/>
          </a:solidFill>
          <a:ln w="12700">
            <a:solidFill>
              <a:schemeClr val="bg2"/>
            </a:solidFill>
            <a:prstDash val="solid"/>
          </a:ln>
        </p:spPr>
      </p:sp>
      <p:sp>
        <p:nvSpPr>
          <p:cNvPr id="15" name="Text 13"/>
          <p:cNvSpPr txBox="1"/>
          <p:nvPr/>
        </p:nvSpPr>
        <p:spPr>
          <a:xfrm>
            <a:off x="9089136" y="2743200"/>
            <a:ext cx="1188720" cy="914400"/>
          </a:xfrm>
          <a:prstGeom prst="rect">
            <a:avLst/>
          </a:prstGeom>
          <a:noFill/>
          <a:ln/>
        </p:spPr>
        <p:txBody>
          <a:bodyPr wrap="square" lIns="0" tIns="0" rIns="0" bIns="0" rtlCol="0" anchor="ctr"/>
          <a:lstStyle/>
          <a:p>
            <a:pPr algn="ctr" indent="0" marL="0">
              <a:buNone/>
            </a:pPr>
            <a:r>
              <a:rPr lang="en-US" sz="1300" b="1" dirty="0">
                <a:solidFill>
                  <a:schemeClr val="tx2"/>
                </a:solidFill>
              </a:rPr>
              <a:t>Log difference</a:t>
            </a:r>
            <a:endParaRPr lang="en-US" sz="1300" dirty="0"/>
          </a:p>
        </p:txBody>
      </p:sp>
      <p:sp>
        <p:nvSpPr>
          <p:cNvPr id="16" name="Shape 14"/>
          <p:cNvSpPr/>
          <p:nvPr/>
        </p:nvSpPr>
        <p:spPr>
          <a:xfrm>
            <a:off x="10314432" y="3200400"/>
            <a:ext cx="128016" cy="0"/>
          </a:xfrm>
          <a:prstGeom prst="line">
            <a:avLst/>
          </a:prstGeom>
          <a:noFill/>
          <a:ln w="25400">
            <a:solidFill>
              <a:schemeClr val="accent3"/>
            </a:solidFill>
            <a:prstDash val="solid"/>
            <a:tailEnd type="triangle"/>
          </a:ln>
        </p:spPr>
      </p:sp>
      <p:sp>
        <p:nvSpPr>
          <p:cNvPr id="17" name="Shape 15"/>
          <p:cNvSpPr/>
          <p:nvPr/>
        </p:nvSpPr>
        <p:spPr>
          <a:xfrm>
            <a:off x="10479024" y="2743200"/>
            <a:ext cx="1188720" cy="914400"/>
          </a:xfrm>
          <a:prstGeom prst="roundRect">
            <a:avLst>
              <a:gd name="adj" fmla="val 8000"/>
            </a:avLst>
          </a:prstGeom>
          <a:solidFill>
            <a:schemeClr val="accent1"/>
          </a:solidFill>
          <a:ln w="12700">
            <a:solidFill>
              <a:schemeClr val="accent1"/>
            </a:solidFill>
            <a:prstDash val="solid"/>
          </a:ln>
        </p:spPr>
      </p:sp>
      <p:sp>
        <p:nvSpPr>
          <p:cNvPr id="18" name="Text 16"/>
          <p:cNvSpPr txBox="1"/>
          <p:nvPr/>
        </p:nvSpPr>
        <p:spPr>
          <a:xfrm>
            <a:off x="10479024" y="2743200"/>
            <a:ext cx="1188720" cy="914400"/>
          </a:xfrm>
          <a:prstGeom prst="rect">
            <a:avLst/>
          </a:prstGeom>
          <a:noFill/>
          <a:ln/>
        </p:spPr>
        <p:txBody>
          <a:bodyPr wrap="square" lIns="0" tIns="0" rIns="0" bIns="0" rtlCol="0" anchor="ctr"/>
          <a:lstStyle/>
          <a:p>
            <a:pPr algn="ctr" indent="0" marL="0">
              <a:buNone/>
            </a:pPr>
            <a:r>
              <a:rPr lang="en-US" sz="1300" b="1" dirty="0">
                <a:solidFill>
                  <a:schemeClr val="tx2"/>
                </a:solidFill>
              </a:rPr>
              <a:t>Reflectance R</a:t>
            </a:r>
            <a:endParaRPr lang="en-US" sz="1300" dirty="0"/>
          </a:p>
        </p:txBody>
      </p:sp>
      <p:sp>
        <p:nvSpPr>
          <p:cNvPr id="19" name="Text 17"/>
          <p:cNvSpPr txBox="1"/>
          <p:nvPr/>
        </p:nvSpPr>
        <p:spPr>
          <a:xfrm>
            <a:off x="6309360" y="3840480"/>
            <a:ext cx="5358384" cy="320040"/>
          </a:xfrm>
          <a:prstGeom prst="rect">
            <a:avLst/>
          </a:prstGeom>
          <a:noFill/>
          <a:ln/>
        </p:spPr>
        <p:txBody>
          <a:bodyPr wrap="square" lIns="0" tIns="0" rIns="0" bIns="0" rtlCol="0" anchor="ctr"/>
          <a:lstStyle/>
          <a:p>
            <a:pPr algn="ctr" indent="0" marL="0">
              <a:buNone/>
            </a:pPr>
            <a:r>
              <a:rPr lang="en-US" sz="1100" i="1" dirty="0">
                <a:solidFill>
                  <a:schemeClr val="accent5"/>
                </a:solidFill>
              </a:rPr>
              <a:t>G = Gaussian surround function, * = convolution</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5 · Multi-Scale Retinex (MSR)</a:t>
            </a:r>
            <a:endParaRPr lang="en-US" sz="3200" dirty="0"/>
          </a:p>
        </p:txBody>
      </p:sp>
      <p:sp>
        <p:nvSpPr>
          <p:cNvPr id="3" name="Text 1"/>
          <p:cNvSpPr txBox="1"/>
          <p:nvPr/>
        </p:nvSpPr>
        <p:spPr>
          <a:xfrm>
            <a:off x="548640" y="1463040"/>
            <a:ext cx="5394960" cy="32918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Runs Retinex at three Gaussian scales and averages them</a:t>
            </a:r>
            <a:endParaRPr lang="en-US" sz="1600" dirty="0"/>
          </a:p>
          <a:p>
            <a:pPr marL="228600" indent="-228600">
              <a:spcAft>
                <a:spcPts val="1000"/>
              </a:spcAft>
              <a:buSzPct val="100000"/>
              <a:buChar char="•"/>
            </a:pPr>
            <a:r>
              <a:rPr lang="en-US" sz="1600" dirty="0">
                <a:solidFill>
                  <a:schemeClr val="tx1"/>
                </a:solidFill>
              </a:rPr>
              <a:t>Small σ → fine detail; large σ → overall illumination</a:t>
            </a:r>
            <a:endParaRPr lang="en-US" sz="1600" dirty="0"/>
          </a:p>
          <a:p>
            <a:pPr marL="228600" indent="-228600">
              <a:spcAft>
                <a:spcPts val="1000"/>
              </a:spcAft>
              <a:buSzPct val="100000"/>
              <a:buChar char="•"/>
            </a:pPr>
            <a:r>
              <a:rPr lang="en-US" sz="1600" dirty="0">
                <a:solidFill>
                  <a:schemeClr val="tx1"/>
                </a:solidFill>
              </a:rPr>
              <a:t>More balanced than SSR</a:t>
            </a:r>
            <a:endParaRPr lang="en-US" sz="1600" dirty="0"/>
          </a:p>
          <a:p>
            <a:pPr marL="228600" indent="-228600">
              <a:spcAft>
                <a:spcPts val="1000"/>
              </a:spcAft>
              <a:buSzPct val="100000"/>
              <a:buChar char="•"/>
            </a:pPr>
            <a:r>
              <a:rPr lang="en-US" sz="1600" dirty="0">
                <a:solidFill>
                  <a:schemeClr val="tx1"/>
                </a:solidFill>
              </a:rPr>
              <a:t>Best traditional method by PSNR</a:t>
            </a:r>
            <a:endParaRPr lang="en-US" sz="1600" dirty="0"/>
          </a:p>
          <a:p>
            <a:pPr marL="228600" indent="-228600">
              <a:spcAft>
                <a:spcPts val="1000"/>
              </a:spcAft>
              <a:buSzPct val="100000"/>
              <a:buChar char="•"/>
            </a:pPr>
            <a:r>
              <a:rPr lang="en-US" sz="1600" dirty="0">
                <a:solidFill>
                  <a:schemeClr val="tx1"/>
                </a:solidFill>
              </a:rPr>
              <a:t>May still show colour shifts or noise</a:t>
            </a:r>
            <a:endParaRPr lang="en-US" sz="1600" dirty="0"/>
          </a:p>
        </p:txBody>
      </p:sp>
      <p:sp>
        <p:nvSpPr>
          <p:cNvPr id="4" name="Shape 2"/>
          <p:cNvSpPr/>
          <p:nvPr/>
        </p:nvSpPr>
        <p:spPr>
          <a:xfrm>
            <a:off x="548640" y="4937760"/>
            <a:ext cx="3840480" cy="1051560"/>
          </a:xfrm>
          <a:prstGeom prst="roundRect">
            <a:avLst>
              <a:gd name="adj" fmla="val 6957"/>
            </a:avLst>
          </a:prstGeom>
          <a:solidFill>
            <a:schemeClr val="tx2"/>
          </a:solidFill>
          <a:ln w="12700">
            <a:solidFill>
              <a:schemeClr val="tx2"/>
            </a:solidFill>
            <a:prstDash val="solid"/>
          </a:ln>
        </p:spPr>
      </p:sp>
      <p:sp>
        <p:nvSpPr>
          <p:cNvPr id="5" name="Text 3"/>
          <p:cNvSpPr txBox="1"/>
          <p:nvPr/>
        </p:nvSpPr>
        <p:spPr>
          <a:xfrm>
            <a:off x="777240" y="5047488"/>
            <a:ext cx="3474720" cy="822960"/>
          </a:xfrm>
          <a:prstGeom prst="rect">
            <a:avLst/>
          </a:prstGeom>
          <a:noFill/>
          <a:ln/>
        </p:spPr>
        <p:txBody>
          <a:bodyPr wrap="square" lIns="0" tIns="0" rIns="0" bIns="0" rtlCol="0" anchor="ctr"/>
          <a:lstStyle/>
          <a:p>
            <a:pPr indent="0" marL="0">
              <a:buNone/>
            </a:pPr>
            <a:r>
              <a:rPr lang="en-US" sz="1100" dirty="0">
                <a:solidFill>
                  <a:schemeClr val="accent4"/>
                </a:solidFill>
              </a:rPr>
              <a:t>On LOL test set (eval15)</a:t>
            </a:r>
            <a:endParaRPr lang="en-US" sz="1100" dirty="0"/>
          </a:p>
          <a:p>
            <a:pPr indent="0" marL="0">
              <a:buNone/>
            </a:pPr>
            <a:r>
              <a:rPr lang="en-US" sz="1800" b="1" dirty="0">
                <a:solidFill>
                  <a:schemeClr val="bg1"/>
                </a:solidFill>
              </a:rPr>
              <a:t>PSNR 14.87 dB   ·   SSIM 0.5840</a:t>
            </a:r>
            <a:endParaRPr lang="en-US" sz="1100" dirty="0"/>
          </a:p>
        </p:txBody>
      </p:sp>
      <p:sp>
        <p:nvSpPr>
          <p:cNvPr id="6" name="Shape 4"/>
          <p:cNvSpPr/>
          <p:nvPr/>
        </p:nvSpPr>
        <p:spPr>
          <a:xfrm>
            <a:off x="6400800" y="1463040"/>
            <a:ext cx="2194560" cy="1051560"/>
          </a:xfrm>
          <a:prstGeom prst="roundRect">
            <a:avLst>
              <a:gd name="adj" fmla="val 6957"/>
            </a:avLst>
          </a:prstGeom>
          <a:solidFill>
            <a:schemeClr val="bg2"/>
          </a:solidFill>
          <a:ln w="12700">
            <a:solidFill>
              <a:schemeClr val="bg2"/>
            </a:solidFill>
            <a:prstDash val="solid"/>
          </a:ln>
        </p:spPr>
      </p:sp>
      <p:sp>
        <p:nvSpPr>
          <p:cNvPr id="7" name="Text 5"/>
          <p:cNvSpPr txBox="1"/>
          <p:nvPr/>
        </p:nvSpPr>
        <p:spPr>
          <a:xfrm>
            <a:off x="6400800" y="1463040"/>
            <a:ext cx="2194560" cy="1051560"/>
          </a:xfrm>
          <a:prstGeom prst="rect">
            <a:avLst/>
          </a:prstGeom>
          <a:noFill/>
          <a:ln/>
        </p:spPr>
        <p:txBody>
          <a:bodyPr wrap="square" lIns="0" tIns="0" rIns="0" bIns="0" rtlCol="0" anchor="ctr"/>
          <a:lstStyle/>
          <a:p>
            <a:pPr algn="ctr" indent="0" marL="0">
              <a:buNone/>
            </a:pPr>
            <a:r>
              <a:rPr lang="en-US" sz="1600" b="1" dirty="0">
                <a:solidFill>
                  <a:schemeClr val="tx2"/>
                </a:solidFill>
              </a:rPr>
              <a:t>σ = 15</a:t>
            </a:r>
            <a:endParaRPr lang="en-US" sz="1600" dirty="0"/>
          </a:p>
          <a:p>
            <a:pPr algn="ctr" indent="0" marL="0">
              <a:buNone/>
            </a:pPr>
            <a:r>
              <a:rPr lang="en-US" sz="1300" dirty="0">
                <a:solidFill>
                  <a:schemeClr val="accent5"/>
                </a:solidFill>
              </a:rPr>
              <a:t>fine detail</a:t>
            </a:r>
            <a:endParaRPr lang="en-US" sz="1600" dirty="0"/>
          </a:p>
        </p:txBody>
      </p:sp>
      <p:sp>
        <p:nvSpPr>
          <p:cNvPr id="8" name="Shape 6"/>
          <p:cNvSpPr/>
          <p:nvPr/>
        </p:nvSpPr>
        <p:spPr>
          <a:xfrm>
            <a:off x="8641080" y="1984248"/>
            <a:ext cx="822960" cy="987552"/>
          </a:xfrm>
          <a:prstGeom prst="line">
            <a:avLst/>
          </a:prstGeom>
          <a:noFill/>
          <a:ln w="25400">
            <a:solidFill>
              <a:schemeClr val="accent3"/>
            </a:solidFill>
            <a:prstDash val="solid"/>
            <a:tailEnd type="triangle"/>
          </a:ln>
        </p:spPr>
      </p:sp>
      <p:sp>
        <p:nvSpPr>
          <p:cNvPr id="9" name="Shape 7"/>
          <p:cNvSpPr/>
          <p:nvPr/>
        </p:nvSpPr>
        <p:spPr>
          <a:xfrm>
            <a:off x="6400800" y="2834640"/>
            <a:ext cx="2194560" cy="1051560"/>
          </a:xfrm>
          <a:prstGeom prst="roundRect">
            <a:avLst>
              <a:gd name="adj" fmla="val 6957"/>
            </a:avLst>
          </a:prstGeom>
          <a:solidFill>
            <a:schemeClr val="bg2"/>
          </a:solidFill>
          <a:ln w="12700">
            <a:solidFill>
              <a:schemeClr val="bg2"/>
            </a:solidFill>
            <a:prstDash val="solid"/>
          </a:ln>
        </p:spPr>
      </p:sp>
      <p:sp>
        <p:nvSpPr>
          <p:cNvPr id="10" name="Text 8"/>
          <p:cNvSpPr txBox="1"/>
          <p:nvPr/>
        </p:nvSpPr>
        <p:spPr>
          <a:xfrm>
            <a:off x="6400800" y="2834640"/>
            <a:ext cx="2194560" cy="1051560"/>
          </a:xfrm>
          <a:prstGeom prst="rect">
            <a:avLst/>
          </a:prstGeom>
          <a:noFill/>
          <a:ln/>
        </p:spPr>
        <p:txBody>
          <a:bodyPr wrap="square" lIns="0" tIns="0" rIns="0" bIns="0" rtlCol="0" anchor="ctr"/>
          <a:lstStyle/>
          <a:p>
            <a:pPr algn="ctr" indent="0" marL="0">
              <a:buNone/>
            </a:pPr>
            <a:r>
              <a:rPr lang="en-US" sz="1600" b="1" dirty="0">
                <a:solidFill>
                  <a:schemeClr val="tx2"/>
                </a:solidFill>
              </a:rPr>
              <a:t>σ = 80</a:t>
            </a:r>
            <a:endParaRPr lang="en-US" sz="1600" dirty="0"/>
          </a:p>
          <a:p>
            <a:pPr algn="ctr" indent="0" marL="0">
              <a:buNone/>
            </a:pPr>
            <a:r>
              <a:rPr lang="en-US" sz="1300" dirty="0">
                <a:solidFill>
                  <a:schemeClr val="accent5"/>
                </a:solidFill>
              </a:rPr>
              <a:t>mid-scale</a:t>
            </a:r>
            <a:endParaRPr lang="en-US" sz="1600" dirty="0"/>
          </a:p>
        </p:txBody>
      </p:sp>
      <p:sp>
        <p:nvSpPr>
          <p:cNvPr id="11" name="Shape 9"/>
          <p:cNvSpPr/>
          <p:nvPr/>
        </p:nvSpPr>
        <p:spPr>
          <a:xfrm>
            <a:off x="8641080" y="3355848"/>
            <a:ext cx="822960" cy="-384048"/>
          </a:xfrm>
          <a:prstGeom prst="line">
            <a:avLst/>
          </a:prstGeom>
          <a:noFill/>
          <a:ln w="25400">
            <a:solidFill>
              <a:schemeClr val="accent3"/>
            </a:solidFill>
            <a:prstDash val="solid"/>
            <a:tailEnd type="triangle"/>
          </a:ln>
        </p:spPr>
      </p:sp>
      <p:sp>
        <p:nvSpPr>
          <p:cNvPr id="12" name="Shape 10"/>
          <p:cNvSpPr/>
          <p:nvPr/>
        </p:nvSpPr>
        <p:spPr>
          <a:xfrm>
            <a:off x="6400800" y="4206240"/>
            <a:ext cx="2194560" cy="1051560"/>
          </a:xfrm>
          <a:prstGeom prst="roundRect">
            <a:avLst>
              <a:gd name="adj" fmla="val 6957"/>
            </a:avLst>
          </a:prstGeom>
          <a:solidFill>
            <a:schemeClr val="bg2"/>
          </a:solidFill>
          <a:ln w="12700">
            <a:solidFill>
              <a:schemeClr val="bg2"/>
            </a:solidFill>
            <a:prstDash val="solid"/>
          </a:ln>
        </p:spPr>
      </p:sp>
      <p:sp>
        <p:nvSpPr>
          <p:cNvPr id="13" name="Text 11"/>
          <p:cNvSpPr txBox="1"/>
          <p:nvPr/>
        </p:nvSpPr>
        <p:spPr>
          <a:xfrm>
            <a:off x="6400800" y="4206240"/>
            <a:ext cx="2194560" cy="1051560"/>
          </a:xfrm>
          <a:prstGeom prst="rect">
            <a:avLst/>
          </a:prstGeom>
          <a:noFill/>
          <a:ln/>
        </p:spPr>
        <p:txBody>
          <a:bodyPr wrap="square" lIns="0" tIns="0" rIns="0" bIns="0" rtlCol="0" anchor="ctr"/>
          <a:lstStyle/>
          <a:p>
            <a:pPr algn="ctr" indent="0" marL="0">
              <a:buNone/>
            </a:pPr>
            <a:r>
              <a:rPr lang="en-US" sz="1600" b="1" dirty="0">
                <a:solidFill>
                  <a:schemeClr val="tx2"/>
                </a:solidFill>
              </a:rPr>
              <a:t>σ = 250</a:t>
            </a:r>
            <a:endParaRPr lang="en-US" sz="1600" dirty="0"/>
          </a:p>
          <a:p>
            <a:pPr algn="ctr" indent="0" marL="0">
              <a:buNone/>
            </a:pPr>
            <a:r>
              <a:rPr lang="en-US" sz="1300" dirty="0">
                <a:solidFill>
                  <a:schemeClr val="accent5"/>
                </a:solidFill>
              </a:rPr>
              <a:t>global light</a:t>
            </a:r>
            <a:endParaRPr lang="en-US" sz="1600" dirty="0"/>
          </a:p>
        </p:txBody>
      </p:sp>
      <p:sp>
        <p:nvSpPr>
          <p:cNvPr id="14" name="Shape 12"/>
          <p:cNvSpPr/>
          <p:nvPr/>
        </p:nvSpPr>
        <p:spPr>
          <a:xfrm>
            <a:off x="8641080" y="4727448"/>
            <a:ext cx="822960" cy="-1755648"/>
          </a:xfrm>
          <a:prstGeom prst="line">
            <a:avLst/>
          </a:prstGeom>
          <a:noFill/>
          <a:ln w="25400">
            <a:solidFill>
              <a:schemeClr val="accent3"/>
            </a:solidFill>
            <a:prstDash val="solid"/>
            <a:tailEnd type="triangle"/>
          </a:ln>
        </p:spPr>
      </p:sp>
      <p:sp>
        <p:nvSpPr>
          <p:cNvPr id="15" name="Shape 13"/>
          <p:cNvSpPr/>
          <p:nvPr/>
        </p:nvSpPr>
        <p:spPr>
          <a:xfrm>
            <a:off x="9509760" y="2423160"/>
            <a:ext cx="2130552" cy="1097280"/>
          </a:xfrm>
          <a:prstGeom prst="roundRect">
            <a:avLst>
              <a:gd name="adj" fmla="val 6667"/>
            </a:avLst>
          </a:prstGeom>
          <a:solidFill>
            <a:schemeClr val="accent1"/>
          </a:solidFill>
          <a:ln w="12700">
            <a:solidFill>
              <a:schemeClr val="accent1"/>
            </a:solidFill>
            <a:prstDash val="solid"/>
          </a:ln>
        </p:spPr>
      </p:sp>
      <p:sp>
        <p:nvSpPr>
          <p:cNvPr id="16" name="Text 14"/>
          <p:cNvSpPr txBox="1"/>
          <p:nvPr/>
        </p:nvSpPr>
        <p:spPr>
          <a:xfrm>
            <a:off x="9509760" y="2423160"/>
            <a:ext cx="2130552" cy="1097280"/>
          </a:xfrm>
          <a:prstGeom prst="rect">
            <a:avLst/>
          </a:prstGeom>
          <a:noFill/>
          <a:ln/>
        </p:spPr>
        <p:txBody>
          <a:bodyPr wrap="square" lIns="0" tIns="0" rIns="0" bIns="0" rtlCol="0" anchor="ctr"/>
          <a:lstStyle/>
          <a:p>
            <a:pPr algn="ctr" indent="0" marL="0">
              <a:buNone/>
            </a:pPr>
            <a:r>
              <a:rPr lang="en-US" sz="1600" b="1" dirty="0">
                <a:solidFill>
                  <a:schemeClr val="tx2"/>
                </a:solidFill>
              </a:rPr>
              <a:t>Average</a:t>
            </a:r>
            <a:endParaRPr lang="en-US" sz="1600" dirty="0"/>
          </a:p>
          <a:p>
            <a:pPr algn="ctr" indent="0" marL="0">
              <a:buNone/>
            </a:pPr>
            <a:r>
              <a:rPr lang="en-US" sz="1600" b="1" dirty="0">
                <a:solidFill>
                  <a:schemeClr val="tx2"/>
                </a:solidFill>
              </a:rPr>
              <a:t>→ R_MSR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Preprocessing for the U-Net</a:t>
            </a:r>
            <a:endParaRPr lang="en-US" sz="3200" dirty="0"/>
          </a:p>
        </p:txBody>
      </p:sp>
      <p:sp>
        <p:nvSpPr>
          <p:cNvPr id="3" name="Shape 1"/>
          <p:cNvSpPr/>
          <p:nvPr/>
        </p:nvSpPr>
        <p:spPr>
          <a:xfrm>
            <a:off x="548640" y="1645920"/>
            <a:ext cx="2057400" cy="2194560"/>
          </a:xfrm>
          <a:prstGeom prst="roundRect">
            <a:avLst>
              <a:gd name="adj" fmla="val 3556"/>
            </a:avLst>
          </a:prstGeom>
          <a:solidFill>
            <a:schemeClr val="bg2"/>
          </a:solidFill>
          <a:ln w="12700">
            <a:solidFill>
              <a:schemeClr val="bg2"/>
            </a:solidFill>
            <a:prstDash val="solid"/>
          </a:ln>
        </p:spPr>
      </p:sp>
      <p:sp>
        <p:nvSpPr>
          <p:cNvPr id="4" name="Text 2"/>
          <p:cNvSpPr txBox="1"/>
          <p:nvPr/>
        </p:nvSpPr>
        <p:spPr>
          <a:xfrm>
            <a:off x="731520" y="1828800"/>
            <a:ext cx="1691640" cy="182880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Load</a:t>
            </a:r>
            <a:endParaRPr lang="en-US" sz="1700" dirty="0"/>
          </a:p>
          <a:p>
            <a:pPr indent="0" marL="0">
              <a:spcAft>
                <a:spcPts val="600"/>
              </a:spcAft>
              <a:buNone/>
            </a:pPr>
            <a:r>
              <a:rPr lang="en-US" sz="1400" dirty="0">
                <a:solidFill>
                  <a:schemeClr val="tx1"/>
                </a:solidFill>
              </a:rPr>
              <a:t>RGB image pairs</a:t>
            </a:r>
            <a:endParaRPr lang="en-US" sz="1700" dirty="0"/>
          </a:p>
        </p:txBody>
      </p:sp>
      <p:sp>
        <p:nvSpPr>
          <p:cNvPr id="5" name="Shape 3"/>
          <p:cNvSpPr/>
          <p:nvPr/>
        </p:nvSpPr>
        <p:spPr>
          <a:xfrm>
            <a:off x="2624328" y="2743200"/>
            <a:ext cx="164592" cy="0"/>
          </a:xfrm>
          <a:prstGeom prst="line">
            <a:avLst/>
          </a:prstGeom>
          <a:noFill/>
          <a:ln w="25400">
            <a:solidFill>
              <a:schemeClr val="accent3"/>
            </a:solidFill>
            <a:prstDash val="solid"/>
            <a:tailEnd type="triangle"/>
          </a:ln>
        </p:spPr>
      </p:sp>
      <p:sp>
        <p:nvSpPr>
          <p:cNvPr id="6" name="Shape 4"/>
          <p:cNvSpPr/>
          <p:nvPr/>
        </p:nvSpPr>
        <p:spPr>
          <a:xfrm>
            <a:off x="2807208" y="1645920"/>
            <a:ext cx="2057400" cy="2194560"/>
          </a:xfrm>
          <a:prstGeom prst="roundRect">
            <a:avLst>
              <a:gd name="adj" fmla="val 3556"/>
            </a:avLst>
          </a:prstGeom>
          <a:solidFill>
            <a:schemeClr val="bg2"/>
          </a:solidFill>
          <a:ln w="12700">
            <a:solidFill>
              <a:schemeClr val="bg2"/>
            </a:solidFill>
            <a:prstDash val="solid"/>
          </a:ln>
        </p:spPr>
      </p:sp>
      <p:sp>
        <p:nvSpPr>
          <p:cNvPr id="7" name="Text 5"/>
          <p:cNvSpPr txBox="1"/>
          <p:nvPr/>
        </p:nvSpPr>
        <p:spPr>
          <a:xfrm>
            <a:off x="2990088" y="1828800"/>
            <a:ext cx="1691640" cy="182880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Normalise</a:t>
            </a:r>
            <a:endParaRPr lang="en-US" sz="1700" dirty="0"/>
          </a:p>
          <a:p>
            <a:pPr indent="0" marL="0">
              <a:spcAft>
                <a:spcPts val="600"/>
              </a:spcAft>
              <a:buNone/>
            </a:pPr>
            <a:r>
              <a:rPr lang="en-US" sz="1400" dirty="0">
                <a:solidFill>
                  <a:schemeClr val="tx1"/>
                </a:solidFill>
              </a:rPr>
              <a:t>pixels / 255 → [0, 1]</a:t>
            </a:r>
            <a:endParaRPr lang="en-US" sz="1700" dirty="0"/>
          </a:p>
        </p:txBody>
      </p:sp>
      <p:sp>
        <p:nvSpPr>
          <p:cNvPr id="8" name="Shape 6"/>
          <p:cNvSpPr/>
          <p:nvPr/>
        </p:nvSpPr>
        <p:spPr>
          <a:xfrm>
            <a:off x="4882896" y="2743200"/>
            <a:ext cx="164592" cy="0"/>
          </a:xfrm>
          <a:prstGeom prst="line">
            <a:avLst/>
          </a:prstGeom>
          <a:noFill/>
          <a:ln w="25400">
            <a:solidFill>
              <a:schemeClr val="accent3"/>
            </a:solidFill>
            <a:prstDash val="solid"/>
            <a:tailEnd type="triangle"/>
          </a:ln>
        </p:spPr>
      </p:sp>
      <p:sp>
        <p:nvSpPr>
          <p:cNvPr id="9" name="Shape 7"/>
          <p:cNvSpPr/>
          <p:nvPr/>
        </p:nvSpPr>
        <p:spPr>
          <a:xfrm>
            <a:off x="5065776" y="1645920"/>
            <a:ext cx="2057400" cy="2194560"/>
          </a:xfrm>
          <a:prstGeom prst="roundRect">
            <a:avLst>
              <a:gd name="adj" fmla="val 3556"/>
            </a:avLst>
          </a:prstGeom>
          <a:solidFill>
            <a:schemeClr val="tx2"/>
          </a:solidFill>
          <a:ln w="12700">
            <a:solidFill>
              <a:schemeClr val="tx2"/>
            </a:solidFill>
            <a:prstDash val="solid"/>
          </a:ln>
        </p:spPr>
      </p:sp>
      <p:sp>
        <p:nvSpPr>
          <p:cNvPr id="10" name="Text 8"/>
          <p:cNvSpPr txBox="1"/>
          <p:nvPr/>
        </p:nvSpPr>
        <p:spPr>
          <a:xfrm>
            <a:off x="5248656" y="1828800"/>
            <a:ext cx="1691640" cy="182880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Random crop</a:t>
            </a:r>
            <a:endParaRPr lang="en-US" sz="1700" dirty="0"/>
          </a:p>
          <a:p>
            <a:pPr indent="0" marL="0">
              <a:spcAft>
                <a:spcPts val="600"/>
              </a:spcAft>
              <a:buNone/>
            </a:pPr>
            <a:r>
              <a:rPr lang="en-US" sz="1400" dirty="0">
                <a:solidFill>
                  <a:schemeClr val="bg1"/>
                </a:solidFill>
              </a:rPr>
              <a:t>same 256 × 256 window on input and target</a:t>
            </a:r>
            <a:endParaRPr lang="en-US" sz="1700" dirty="0"/>
          </a:p>
        </p:txBody>
      </p:sp>
      <p:sp>
        <p:nvSpPr>
          <p:cNvPr id="11" name="Shape 9"/>
          <p:cNvSpPr/>
          <p:nvPr/>
        </p:nvSpPr>
        <p:spPr>
          <a:xfrm>
            <a:off x="7141464" y="2743200"/>
            <a:ext cx="164592" cy="0"/>
          </a:xfrm>
          <a:prstGeom prst="line">
            <a:avLst/>
          </a:prstGeom>
          <a:noFill/>
          <a:ln w="25400">
            <a:solidFill>
              <a:schemeClr val="accent3"/>
            </a:solidFill>
            <a:prstDash val="solid"/>
            <a:tailEnd type="triangle"/>
          </a:ln>
        </p:spPr>
      </p:sp>
      <p:sp>
        <p:nvSpPr>
          <p:cNvPr id="12" name="Shape 10"/>
          <p:cNvSpPr/>
          <p:nvPr/>
        </p:nvSpPr>
        <p:spPr>
          <a:xfrm>
            <a:off x="7324344" y="1645920"/>
            <a:ext cx="2057400" cy="2194560"/>
          </a:xfrm>
          <a:prstGeom prst="roundRect">
            <a:avLst>
              <a:gd name="adj" fmla="val 3556"/>
            </a:avLst>
          </a:prstGeom>
          <a:solidFill>
            <a:schemeClr val="tx2"/>
          </a:solidFill>
          <a:ln w="12700">
            <a:solidFill>
              <a:schemeClr val="tx2"/>
            </a:solidFill>
            <a:prstDash val="solid"/>
          </a:ln>
        </p:spPr>
      </p:sp>
      <p:sp>
        <p:nvSpPr>
          <p:cNvPr id="13" name="Text 11"/>
          <p:cNvSpPr txBox="1"/>
          <p:nvPr/>
        </p:nvSpPr>
        <p:spPr>
          <a:xfrm>
            <a:off x="7507224" y="1828800"/>
            <a:ext cx="1691640" cy="182880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Random flip</a:t>
            </a:r>
            <a:endParaRPr lang="en-US" sz="1700" dirty="0"/>
          </a:p>
          <a:p>
            <a:pPr indent="0" marL="0">
              <a:spcAft>
                <a:spcPts val="600"/>
              </a:spcAft>
              <a:buNone/>
            </a:pPr>
            <a:r>
              <a:rPr lang="en-US" sz="1400" dirty="0">
                <a:solidFill>
                  <a:schemeClr val="bg1"/>
                </a:solidFill>
              </a:rPr>
              <a:t>horizontal, p = 0.5, applied to both</a:t>
            </a:r>
            <a:endParaRPr lang="en-US" sz="1700" dirty="0"/>
          </a:p>
        </p:txBody>
      </p:sp>
      <p:sp>
        <p:nvSpPr>
          <p:cNvPr id="14" name="Shape 12"/>
          <p:cNvSpPr/>
          <p:nvPr/>
        </p:nvSpPr>
        <p:spPr>
          <a:xfrm>
            <a:off x="9400032" y="2743200"/>
            <a:ext cx="164592" cy="0"/>
          </a:xfrm>
          <a:prstGeom prst="line">
            <a:avLst/>
          </a:prstGeom>
          <a:noFill/>
          <a:ln w="25400">
            <a:solidFill>
              <a:schemeClr val="accent3"/>
            </a:solidFill>
            <a:prstDash val="solid"/>
            <a:tailEnd type="triangle"/>
          </a:ln>
        </p:spPr>
      </p:sp>
      <p:sp>
        <p:nvSpPr>
          <p:cNvPr id="15" name="Shape 13"/>
          <p:cNvSpPr/>
          <p:nvPr/>
        </p:nvSpPr>
        <p:spPr>
          <a:xfrm>
            <a:off x="9582912" y="1645920"/>
            <a:ext cx="2057400" cy="2194560"/>
          </a:xfrm>
          <a:prstGeom prst="roundRect">
            <a:avLst>
              <a:gd name="adj" fmla="val 3556"/>
            </a:avLst>
          </a:prstGeom>
          <a:solidFill>
            <a:schemeClr val="bg2"/>
          </a:solidFill>
          <a:ln w="12700">
            <a:solidFill>
              <a:schemeClr val="bg2"/>
            </a:solidFill>
            <a:prstDash val="solid"/>
          </a:ln>
        </p:spPr>
      </p:sp>
      <p:sp>
        <p:nvSpPr>
          <p:cNvPr id="16" name="Text 14"/>
          <p:cNvSpPr txBox="1"/>
          <p:nvPr/>
        </p:nvSpPr>
        <p:spPr>
          <a:xfrm>
            <a:off x="9765792" y="1828800"/>
            <a:ext cx="1691640" cy="182880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Tensor</a:t>
            </a:r>
            <a:endParaRPr lang="en-US" sz="1700" dirty="0"/>
          </a:p>
          <a:p>
            <a:pPr indent="0" marL="0">
              <a:spcAft>
                <a:spcPts val="600"/>
              </a:spcAft>
              <a:buNone/>
            </a:pPr>
            <a:r>
              <a:rPr lang="en-US" sz="1400" dirty="0">
                <a:solidFill>
                  <a:schemeClr val="tx1"/>
                </a:solidFill>
              </a:rPr>
              <a:t>channel-first C × H × W, batch of 8</a:t>
            </a:r>
            <a:endParaRPr lang="en-US" sz="1700" dirty="0"/>
          </a:p>
        </p:txBody>
      </p:sp>
      <p:sp>
        <p:nvSpPr>
          <p:cNvPr id="17" name="Text 15"/>
          <p:cNvSpPr txBox="1"/>
          <p:nvPr/>
        </p:nvSpPr>
        <p:spPr>
          <a:xfrm>
            <a:off x="548640" y="4206240"/>
            <a:ext cx="11064240" cy="18288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Crop and flip are spatial augmentations: each epoch sees different regions of the same images</a:t>
            </a:r>
            <a:endParaRPr lang="en-US" sz="1600" dirty="0"/>
          </a:p>
          <a:p>
            <a:pPr marL="228600" indent="-228600">
              <a:spcAft>
                <a:spcPts val="1000"/>
              </a:spcAft>
              <a:buSzPct val="100000"/>
              <a:buChar char="•"/>
            </a:pPr>
            <a:r>
              <a:rPr lang="en-US" sz="1600" dirty="0">
                <a:solidFill>
                  <a:schemeClr val="tx1"/>
                </a:solidFill>
              </a:rPr>
              <a:t>Identical transform on input and target keeps every pixel aligned with its ground truth</a:t>
            </a:r>
            <a:endParaRPr lang="en-US" sz="1600" dirty="0"/>
          </a:p>
          <a:p>
            <a:pPr marL="228600" indent="-228600">
              <a:spcAft>
                <a:spcPts val="1000"/>
              </a:spcAft>
              <a:buSzPct val="100000"/>
              <a:buChar char="•"/>
            </a:pPr>
            <a:r>
              <a:rPr lang="en-US" sz="1600" dirty="0">
                <a:solidFill>
                  <a:schemeClr val="tx1"/>
                </a:solidFill>
              </a:rPr>
              <a:t>Augmentation only during training; test images are used at full size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U-Net architecture</a:t>
            </a:r>
            <a:endParaRPr lang="en-US" sz="3200" dirty="0"/>
          </a:p>
        </p:txBody>
      </p:sp>
      <p:sp>
        <p:nvSpPr>
          <p:cNvPr id="3" name="Shape 1"/>
          <p:cNvSpPr/>
          <p:nvPr/>
        </p:nvSpPr>
        <p:spPr>
          <a:xfrm>
            <a:off x="822960" y="1554480"/>
            <a:ext cx="1234440" cy="530352"/>
          </a:xfrm>
          <a:prstGeom prst="roundRect">
            <a:avLst>
              <a:gd name="adj" fmla="val 13793"/>
            </a:avLst>
          </a:prstGeom>
          <a:solidFill>
            <a:schemeClr val="bg2"/>
          </a:solidFill>
          <a:ln w="12700">
            <a:solidFill>
              <a:schemeClr val="bg2"/>
            </a:solidFill>
            <a:prstDash val="solid"/>
          </a:ln>
        </p:spPr>
      </p:sp>
      <p:sp>
        <p:nvSpPr>
          <p:cNvPr id="4" name="Text 2"/>
          <p:cNvSpPr txBox="1"/>
          <p:nvPr/>
        </p:nvSpPr>
        <p:spPr>
          <a:xfrm>
            <a:off x="822960" y="15544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32</a:t>
            </a:r>
            <a:endParaRPr lang="en-US" sz="1400" dirty="0"/>
          </a:p>
        </p:txBody>
      </p:sp>
      <p:sp>
        <p:nvSpPr>
          <p:cNvPr id="5" name="Shape 3"/>
          <p:cNvSpPr/>
          <p:nvPr/>
        </p:nvSpPr>
        <p:spPr>
          <a:xfrm>
            <a:off x="9966960" y="1554480"/>
            <a:ext cx="1234440" cy="530352"/>
          </a:xfrm>
          <a:prstGeom prst="roundRect">
            <a:avLst>
              <a:gd name="adj" fmla="val 13793"/>
            </a:avLst>
          </a:prstGeom>
          <a:solidFill>
            <a:schemeClr val="bg2"/>
          </a:solidFill>
          <a:ln w="12700">
            <a:solidFill>
              <a:schemeClr val="bg2"/>
            </a:solidFill>
            <a:prstDash val="solid"/>
          </a:ln>
        </p:spPr>
      </p:sp>
      <p:sp>
        <p:nvSpPr>
          <p:cNvPr id="6" name="Text 4"/>
          <p:cNvSpPr txBox="1"/>
          <p:nvPr/>
        </p:nvSpPr>
        <p:spPr>
          <a:xfrm>
            <a:off x="9966960" y="15544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32</a:t>
            </a:r>
            <a:endParaRPr lang="en-US" sz="1400" dirty="0"/>
          </a:p>
        </p:txBody>
      </p:sp>
      <p:sp>
        <p:nvSpPr>
          <p:cNvPr id="7" name="Shape 5"/>
          <p:cNvSpPr/>
          <p:nvPr/>
        </p:nvSpPr>
        <p:spPr>
          <a:xfrm>
            <a:off x="2103120" y="1819656"/>
            <a:ext cx="7818120" cy="0"/>
          </a:xfrm>
          <a:prstGeom prst="line">
            <a:avLst/>
          </a:prstGeom>
          <a:noFill/>
          <a:ln w="19050">
            <a:solidFill>
              <a:schemeClr val="accent1"/>
            </a:solidFill>
            <a:prstDash val="dash"/>
            <a:tailEnd type="triangle"/>
          </a:ln>
        </p:spPr>
      </p:sp>
      <p:sp>
        <p:nvSpPr>
          <p:cNvPr id="8" name="Shape 6"/>
          <p:cNvSpPr/>
          <p:nvPr/>
        </p:nvSpPr>
        <p:spPr>
          <a:xfrm>
            <a:off x="1691640" y="2240280"/>
            <a:ext cx="1234440" cy="530352"/>
          </a:xfrm>
          <a:prstGeom prst="roundRect">
            <a:avLst>
              <a:gd name="adj" fmla="val 13793"/>
            </a:avLst>
          </a:prstGeom>
          <a:solidFill>
            <a:schemeClr val="bg2"/>
          </a:solidFill>
          <a:ln w="12700">
            <a:solidFill>
              <a:schemeClr val="bg2"/>
            </a:solidFill>
            <a:prstDash val="solid"/>
          </a:ln>
        </p:spPr>
      </p:sp>
      <p:sp>
        <p:nvSpPr>
          <p:cNvPr id="9" name="Text 7"/>
          <p:cNvSpPr txBox="1"/>
          <p:nvPr/>
        </p:nvSpPr>
        <p:spPr>
          <a:xfrm>
            <a:off x="1691640" y="22402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64</a:t>
            </a:r>
            <a:endParaRPr lang="en-US" sz="1400" dirty="0"/>
          </a:p>
        </p:txBody>
      </p:sp>
      <p:sp>
        <p:nvSpPr>
          <p:cNvPr id="10" name="Shape 8"/>
          <p:cNvSpPr/>
          <p:nvPr/>
        </p:nvSpPr>
        <p:spPr>
          <a:xfrm>
            <a:off x="9098280" y="2240280"/>
            <a:ext cx="1234440" cy="530352"/>
          </a:xfrm>
          <a:prstGeom prst="roundRect">
            <a:avLst>
              <a:gd name="adj" fmla="val 13793"/>
            </a:avLst>
          </a:prstGeom>
          <a:solidFill>
            <a:schemeClr val="bg2"/>
          </a:solidFill>
          <a:ln w="12700">
            <a:solidFill>
              <a:schemeClr val="bg2"/>
            </a:solidFill>
            <a:prstDash val="solid"/>
          </a:ln>
        </p:spPr>
      </p:sp>
      <p:sp>
        <p:nvSpPr>
          <p:cNvPr id="11" name="Text 9"/>
          <p:cNvSpPr txBox="1"/>
          <p:nvPr/>
        </p:nvSpPr>
        <p:spPr>
          <a:xfrm>
            <a:off x="9098280" y="22402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64</a:t>
            </a:r>
            <a:endParaRPr lang="en-US" sz="1400" dirty="0"/>
          </a:p>
        </p:txBody>
      </p:sp>
      <p:sp>
        <p:nvSpPr>
          <p:cNvPr id="12" name="Shape 10"/>
          <p:cNvSpPr/>
          <p:nvPr/>
        </p:nvSpPr>
        <p:spPr>
          <a:xfrm>
            <a:off x="2971800" y="2505456"/>
            <a:ext cx="6080760" cy="0"/>
          </a:xfrm>
          <a:prstGeom prst="line">
            <a:avLst/>
          </a:prstGeom>
          <a:noFill/>
          <a:ln w="19050">
            <a:solidFill>
              <a:schemeClr val="accent1"/>
            </a:solidFill>
            <a:prstDash val="dash"/>
            <a:tailEnd type="triangle"/>
          </a:ln>
        </p:spPr>
      </p:sp>
      <p:sp>
        <p:nvSpPr>
          <p:cNvPr id="13" name="Shape 11"/>
          <p:cNvSpPr/>
          <p:nvPr/>
        </p:nvSpPr>
        <p:spPr>
          <a:xfrm>
            <a:off x="2560320" y="2926080"/>
            <a:ext cx="1234440" cy="530352"/>
          </a:xfrm>
          <a:prstGeom prst="roundRect">
            <a:avLst>
              <a:gd name="adj" fmla="val 13793"/>
            </a:avLst>
          </a:prstGeom>
          <a:solidFill>
            <a:schemeClr val="bg2"/>
          </a:solidFill>
          <a:ln w="12700">
            <a:solidFill>
              <a:schemeClr val="bg2"/>
            </a:solidFill>
            <a:prstDash val="solid"/>
          </a:ln>
        </p:spPr>
      </p:sp>
      <p:sp>
        <p:nvSpPr>
          <p:cNvPr id="14" name="Text 12"/>
          <p:cNvSpPr txBox="1"/>
          <p:nvPr/>
        </p:nvSpPr>
        <p:spPr>
          <a:xfrm>
            <a:off x="2560320" y="29260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128</a:t>
            </a:r>
            <a:endParaRPr lang="en-US" sz="1400" dirty="0"/>
          </a:p>
        </p:txBody>
      </p:sp>
      <p:sp>
        <p:nvSpPr>
          <p:cNvPr id="15" name="Shape 13"/>
          <p:cNvSpPr/>
          <p:nvPr/>
        </p:nvSpPr>
        <p:spPr>
          <a:xfrm>
            <a:off x="8229600" y="2926080"/>
            <a:ext cx="1234440" cy="530352"/>
          </a:xfrm>
          <a:prstGeom prst="roundRect">
            <a:avLst>
              <a:gd name="adj" fmla="val 13793"/>
            </a:avLst>
          </a:prstGeom>
          <a:solidFill>
            <a:schemeClr val="bg2"/>
          </a:solidFill>
          <a:ln w="12700">
            <a:solidFill>
              <a:schemeClr val="bg2"/>
            </a:solidFill>
            <a:prstDash val="solid"/>
          </a:ln>
        </p:spPr>
      </p:sp>
      <p:sp>
        <p:nvSpPr>
          <p:cNvPr id="16" name="Text 14"/>
          <p:cNvSpPr txBox="1"/>
          <p:nvPr/>
        </p:nvSpPr>
        <p:spPr>
          <a:xfrm>
            <a:off x="8229600" y="29260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128</a:t>
            </a:r>
            <a:endParaRPr lang="en-US" sz="1400" dirty="0"/>
          </a:p>
        </p:txBody>
      </p:sp>
      <p:sp>
        <p:nvSpPr>
          <p:cNvPr id="17" name="Shape 15"/>
          <p:cNvSpPr/>
          <p:nvPr/>
        </p:nvSpPr>
        <p:spPr>
          <a:xfrm>
            <a:off x="3840480" y="3191256"/>
            <a:ext cx="4343400" cy="0"/>
          </a:xfrm>
          <a:prstGeom prst="line">
            <a:avLst/>
          </a:prstGeom>
          <a:noFill/>
          <a:ln w="19050">
            <a:solidFill>
              <a:schemeClr val="accent1"/>
            </a:solidFill>
            <a:prstDash val="dash"/>
            <a:tailEnd type="triangle"/>
          </a:ln>
        </p:spPr>
      </p:sp>
      <p:sp>
        <p:nvSpPr>
          <p:cNvPr id="18" name="Shape 16"/>
          <p:cNvSpPr/>
          <p:nvPr/>
        </p:nvSpPr>
        <p:spPr>
          <a:xfrm>
            <a:off x="3429000" y="3611880"/>
            <a:ext cx="1234440" cy="530352"/>
          </a:xfrm>
          <a:prstGeom prst="roundRect">
            <a:avLst>
              <a:gd name="adj" fmla="val 13793"/>
            </a:avLst>
          </a:prstGeom>
          <a:solidFill>
            <a:schemeClr val="bg2"/>
          </a:solidFill>
          <a:ln w="12700">
            <a:solidFill>
              <a:schemeClr val="bg2"/>
            </a:solidFill>
            <a:prstDash val="solid"/>
          </a:ln>
        </p:spPr>
      </p:sp>
      <p:sp>
        <p:nvSpPr>
          <p:cNvPr id="19" name="Text 17"/>
          <p:cNvSpPr txBox="1"/>
          <p:nvPr/>
        </p:nvSpPr>
        <p:spPr>
          <a:xfrm>
            <a:off x="3429000" y="36118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256</a:t>
            </a:r>
            <a:endParaRPr lang="en-US" sz="1400" dirty="0"/>
          </a:p>
        </p:txBody>
      </p:sp>
      <p:sp>
        <p:nvSpPr>
          <p:cNvPr id="20" name="Shape 18"/>
          <p:cNvSpPr/>
          <p:nvPr/>
        </p:nvSpPr>
        <p:spPr>
          <a:xfrm>
            <a:off x="7360920" y="3611880"/>
            <a:ext cx="1234440" cy="530352"/>
          </a:xfrm>
          <a:prstGeom prst="roundRect">
            <a:avLst>
              <a:gd name="adj" fmla="val 13793"/>
            </a:avLst>
          </a:prstGeom>
          <a:solidFill>
            <a:schemeClr val="bg2"/>
          </a:solidFill>
          <a:ln w="12700">
            <a:solidFill>
              <a:schemeClr val="bg2"/>
            </a:solidFill>
            <a:prstDash val="solid"/>
          </a:ln>
        </p:spPr>
      </p:sp>
      <p:sp>
        <p:nvSpPr>
          <p:cNvPr id="21" name="Text 19"/>
          <p:cNvSpPr txBox="1"/>
          <p:nvPr/>
        </p:nvSpPr>
        <p:spPr>
          <a:xfrm>
            <a:off x="7360920" y="3611880"/>
            <a:ext cx="1234440" cy="530352"/>
          </a:xfrm>
          <a:prstGeom prst="rect">
            <a:avLst/>
          </a:prstGeom>
          <a:noFill/>
          <a:ln/>
        </p:spPr>
        <p:txBody>
          <a:bodyPr wrap="square" lIns="0" tIns="0" rIns="0" bIns="0" rtlCol="0" anchor="ctr"/>
          <a:lstStyle/>
          <a:p>
            <a:pPr algn="ctr" indent="0" marL="0">
              <a:buNone/>
            </a:pPr>
            <a:r>
              <a:rPr lang="en-US" sz="1400" b="1" dirty="0">
                <a:solidFill>
                  <a:schemeClr val="tx2"/>
                </a:solidFill>
              </a:rPr>
              <a:t>256</a:t>
            </a:r>
            <a:endParaRPr lang="en-US" sz="1400" dirty="0"/>
          </a:p>
        </p:txBody>
      </p:sp>
      <p:sp>
        <p:nvSpPr>
          <p:cNvPr id="22" name="Shape 20"/>
          <p:cNvSpPr/>
          <p:nvPr/>
        </p:nvSpPr>
        <p:spPr>
          <a:xfrm>
            <a:off x="4709160" y="3877056"/>
            <a:ext cx="2606040" cy="0"/>
          </a:xfrm>
          <a:prstGeom prst="line">
            <a:avLst/>
          </a:prstGeom>
          <a:noFill/>
          <a:ln w="19050">
            <a:solidFill>
              <a:schemeClr val="accent1"/>
            </a:solidFill>
            <a:prstDash val="dash"/>
            <a:tailEnd type="triangle"/>
          </a:ln>
        </p:spPr>
      </p:sp>
      <p:sp>
        <p:nvSpPr>
          <p:cNvPr id="23" name="Shape 21"/>
          <p:cNvSpPr/>
          <p:nvPr/>
        </p:nvSpPr>
        <p:spPr>
          <a:xfrm>
            <a:off x="5394960" y="4297680"/>
            <a:ext cx="1463040" cy="566928"/>
          </a:xfrm>
          <a:prstGeom prst="roundRect">
            <a:avLst>
              <a:gd name="adj" fmla="val 12903"/>
            </a:avLst>
          </a:prstGeom>
          <a:solidFill>
            <a:schemeClr val="tx2"/>
          </a:solidFill>
          <a:ln w="12700">
            <a:solidFill>
              <a:schemeClr val="tx2"/>
            </a:solidFill>
            <a:prstDash val="solid"/>
          </a:ln>
        </p:spPr>
      </p:sp>
      <p:sp>
        <p:nvSpPr>
          <p:cNvPr id="24" name="Text 22"/>
          <p:cNvSpPr txBox="1"/>
          <p:nvPr/>
        </p:nvSpPr>
        <p:spPr>
          <a:xfrm>
            <a:off x="5394960" y="4297680"/>
            <a:ext cx="1463040" cy="566928"/>
          </a:xfrm>
          <a:prstGeom prst="rect">
            <a:avLst/>
          </a:prstGeom>
          <a:noFill/>
          <a:ln/>
        </p:spPr>
        <p:txBody>
          <a:bodyPr wrap="square" lIns="0" tIns="0" rIns="0" bIns="0" rtlCol="0" anchor="ctr"/>
          <a:lstStyle/>
          <a:p>
            <a:pPr algn="ctr" indent="0" marL="0">
              <a:buNone/>
            </a:pPr>
            <a:r>
              <a:rPr lang="en-US" sz="1400" b="1" dirty="0">
                <a:solidFill>
                  <a:schemeClr val="accent1"/>
                </a:solidFill>
              </a:rPr>
              <a:t>512</a:t>
            </a:r>
            <a:endParaRPr lang="en-US" sz="1400" dirty="0"/>
          </a:p>
        </p:txBody>
      </p:sp>
      <p:sp>
        <p:nvSpPr>
          <p:cNvPr id="25" name="Text 23"/>
          <p:cNvSpPr txBox="1"/>
          <p:nvPr/>
        </p:nvSpPr>
        <p:spPr>
          <a:xfrm>
            <a:off x="822960" y="1143000"/>
            <a:ext cx="2743200" cy="320040"/>
          </a:xfrm>
          <a:prstGeom prst="rect">
            <a:avLst/>
          </a:prstGeom>
          <a:noFill/>
          <a:ln/>
        </p:spPr>
        <p:txBody>
          <a:bodyPr wrap="square" lIns="0" tIns="0" rIns="0" bIns="0" rtlCol="0" anchor="ctr"/>
          <a:lstStyle/>
          <a:p>
            <a:pPr indent="0" marL="0">
              <a:buNone/>
            </a:pPr>
            <a:r>
              <a:rPr lang="en-US" sz="1300" b="1" dirty="0">
                <a:solidFill>
                  <a:schemeClr val="accent5"/>
                </a:solidFill>
              </a:rPr>
              <a:t>Encoder ↓ (max-pool)</a:t>
            </a:r>
            <a:endParaRPr lang="en-US" sz="1300" dirty="0"/>
          </a:p>
        </p:txBody>
      </p:sp>
      <p:sp>
        <p:nvSpPr>
          <p:cNvPr id="26" name="Text 24"/>
          <p:cNvSpPr txBox="1"/>
          <p:nvPr/>
        </p:nvSpPr>
        <p:spPr>
          <a:xfrm>
            <a:off x="8321040" y="1143000"/>
            <a:ext cx="2926080" cy="320040"/>
          </a:xfrm>
          <a:prstGeom prst="rect">
            <a:avLst/>
          </a:prstGeom>
          <a:noFill/>
          <a:ln/>
        </p:spPr>
        <p:txBody>
          <a:bodyPr wrap="square" lIns="0" tIns="0" rIns="0" bIns="0" rtlCol="0" anchor="ctr"/>
          <a:lstStyle/>
          <a:p>
            <a:pPr algn="r" indent="0" marL="0">
              <a:buNone/>
            </a:pPr>
            <a:r>
              <a:rPr lang="en-US" sz="1300" b="1" dirty="0">
                <a:solidFill>
                  <a:schemeClr val="accent5"/>
                </a:solidFill>
              </a:rPr>
              <a:t>Decoder ↑ (transposed conv)</a:t>
            </a:r>
            <a:endParaRPr lang="en-US" sz="1300" dirty="0"/>
          </a:p>
        </p:txBody>
      </p:sp>
      <p:sp>
        <p:nvSpPr>
          <p:cNvPr id="27" name="Text 25"/>
          <p:cNvSpPr txBox="1"/>
          <p:nvPr/>
        </p:nvSpPr>
        <p:spPr>
          <a:xfrm>
            <a:off x="5394960" y="4882896"/>
            <a:ext cx="1463040" cy="274320"/>
          </a:xfrm>
          <a:prstGeom prst="rect">
            <a:avLst/>
          </a:prstGeom>
          <a:noFill/>
          <a:ln/>
        </p:spPr>
        <p:txBody>
          <a:bodyPr wrap="square" lIns="0" tIns="0" rIns="0" bIns="0" rtlCol="0" anchor="ctr"/>
          <a:lstStyle/>
          <a:p>
            <a:pPr algn="ctr" indent="0" marL="0">
              <a:buNone/>
            </a:pPr>
            <a:r>
              <a:rPr lang="en-US" sz="1200" dirty="0">
                <a:solidFill>
                  <a:schemeClr val="accent5"/>
                </a:solidFill>
              </a:rPr>
              <a:t>Bottleneck</a:t>
            </a:r>
            <a:endParaRPr lang="en-US" sz="1200" dirty="0"/>
          </a:p>
        </p:txBody>
      </p:sp>
      <p:sp>
        <p:nvSpPr>
          <p:cNvPr id="28" name="Text 26"/>
          <p:cNvSpPr txBox="1"/>
          <p:nvPr/>
        </p:nvSpPr>
        <p:spPr>
          <a:xfrm>
            <a:off x="5074920" y="1810512"/>
            <a:ext cx="2103120" cy="274320"/>
          </a:xfrm>
          <a:prstGeom prst="rect">
            <a:avLst/>
          </a:prstGeom>
          <a:noFill/>
          <a:ln/>
        </p:spPr>
        <p:txBody>
          <a:bodyPr wrap="square" lIns="0" tIns="0" rIns="0" bIns="0" rtlCol="0" anchor="ctr"/>
          <a:lstStyle/>
          <a:p>
            <a:pPr algn="ctr" indent="0" marL="0">
              <a:buNone/>
            </a:pPr>
            <a:r>
              <a:rPr lang="en-US" sz="1200" i="1" dirty="0">
                <a:solidFill>
                  <a:schemeClr val="accent6"/>
                </a:solidFill>
              </a:rPr>
              <a:t>skip connections</a:t>
            </a:r>
            <a:endParaRPr lang="en-US" sz="1200" dirty="0"/>
          </a:p>
        </p:txBody>
      </p:sp>
      <p:sp>
        <p:nvSpPr>
          <p:cNvPr id="29" name="Shape 27"/>
          <p:cNvSpPr/>
          <p:nvPr/>
        </p:nvSpPr>
        <p:spPr>
          <a:xfrm>
            <a:off x="548640" y="5303520"/>
            <a:ext cx="3520440" cy="914400"/>
          </a:xfrm>
          <a:prstGeom prst="roundRect">
            <a:avLst>
              <a:gd name="adj" fmla="val 8000"/>
            </a:avLst>
          </a:prstGeom>
          <a:solidFill>
            <a:schemeClr val="bg2"/>
          </a:solidFill>
          <a:ln w="12700">
            <a:solidFill>
              <a:schemeClr val="bg2"/>
            </a:solidFill>
            <a:prstDash val="solid"/>
          </a:ln>
        </p:spPr>
      </p:sp>
      <p:sp>
        <p:nvSpPr>
          <p:cNvPr id="30" name="Text 28"/>
          <p:cNvSpPr txBox="1"/>
          <p:nvPr/>
        </p:nvSpPr>
        <p:spPr>
          <a:xfrm>
            <a:off x="777240" y="5303520"/>
            <a:ext cx="3108960" cy="914400"/>
          </a:xfrm>
          <a:prstGeom prst="rect">
            <a:avLst/>
          </a:prstGeom>
          <a:noFill/>
          <a:ln/>
        </p:spPr>
        <p:txBody>
          <a:bodyPr wrap="square" lIns="0" tIns="0" rIns="0" bIns="0" rtlCol="0" anchor="ctr"/>
          <a:lstStyle/>
          <a:p>
            <a:pPr indent="0" marL="0">
              <a:buNone/>
            </a:pPr>
            <a:r>
              <a:rPr lang="en-US" sz="1800" b="1" dirty="0">
                <a:solidFill>
                  <a:schemeClr val="tx2"/>
                </a:solidFill>
              </a:rPr>
              <a:t>7.76 M</a:t>
            </a:r>
            <a:endParaRPr lang="en-US" sz="1800" dirty="0"/>
          </a:p>
          <a:p>
            <a:pPr indent="0" marL="0">
              <a:buNone/>
            </a:pPr>
            <a:r>
              <a:rPr lang="en-US" sz="1300" dirty="0">
                <a:solidFill>
                  <a:schemeClr val="accent5"/>
                </a:solidFill>
              </a:rPr>
              <a:t>trainable parameters</a:t>
            </a:r>
            <a:endParaRPr lang="en-US" sz="1800" dirty="0"/>
          </a:p>
        </p:txBody>
      </p:sp>
      <p:sp>
        <p:nvSpPr>
          <p:cNvPr id="31" name="Shape 29"/>
          <p:cNvSpPr/>
          <p:nvPr/>
        </p:nvSpPr>
        <p:spPr>
          <a:xfrm>
            <a:off x="4297680" y="5303520"/>
            <a:ext cx="3520440" cy="914400"/>
          </a:xfrm>
          <a:prstGeom prst="roundRect">
            <a:avLst>
              <a:gd name="adj" fmla="val 8000"/>
            </a:avLst>
          </a:prstGeom>
          <a:solidFill>
            <a:schemeClr val="bg2"/>
          </a:solidFill>
          <a:ln w="12700">
            <a:solidFill>
              <a:schemeClr val="bg2"/>
            </a:solidFill>
            <a:prstDash val="solid"/>
          </a:ln>
        </p:spPr>
      </p:sp>
      <p:sp>
        <p:nvSpPr>
          <p:cNvPr id="32" name="Text 30"/>
          <p:cNvSpPr txBox="1"/>
          <p:nvPr/>
        </p:nvSpPr>
        <p:spPr>
          <a:xfrm>
            <a:off x="4526280" y="5303520"/>
            <a:ext cx="3108960" cy="914400"/>
          </a:xfrm>
          <a:prstGeom prst="rect">
            <a:avLst/>
          </a:prstGeom>
          <a:noFill/>
          <a:ln/>
        </p:spPr>
        <p:txBody>
          <a:bodyPr wrap="square" lIns="0" tIns="0" rIns="0" bIns="0" rtlCol="0" anchor="ctr"/>
          <a:lstStyle/>
          <a:p>
            <a:pPr indent="0" marL="0">
              <a:buNone/>
            </a:pPr>
            <a:r>
              <a:rPr lang="en-US" sz="1800" b="1" dirty="0">
                <a:solidFill>
                  <a:schemeClr val="tx2"/>
                </a:solidFill>
              </a:rPr>
              <a:t>2 × (3×3 conv + ReLU)</a:t>
            </a:r>
            <a:endParaRPr lang="en-US" sz="1800" dirty="0"/>
          </a:p>
          <a:p>
            <a:pPr indent="0" marL="0">
              <a:buNone/>
            </a:pPr>
            <a:r>
              <a:rPr lang="en-US" sz="1300" dirty="0">
                <a:solidFill>
                  <a:schemeClr val="accent5"/>
                </a:solidFill>
              </a:rPr>
              <a:t>in every block</a:t>
            </a:r>
            <a:endParaRPr lang="en-US" sz="1800" dirty="0"/>
          </a:p>
        </p:txBody>
      </p:sp>
      <p:sp>
        <p:nvSpPr>
          <p:cNvPr id="33" name="Shape 31"/>
          <p:cNvSpPr/>
          <p:nvPr/>
        </p:nvSpPr>
        <p:spPr>
          <a:xfrm>
            <a:off x="8046720" y="5303520"/>
            <a:ext cx="3520440" cy="914400"/>
          </a:xfrm>
          <a:prstGeom prst="roundRect">
            <a:avLst>
              <a:gd name="adj" fmla="val 8000"/>
            </a:avLst>
          </a:prstGeom>
          <a:solidFill>
            <a:schemeClr val="bg2"/>
          </a:solidFill>
          <a:ln w="12700">
            <a:solidFill>
              <a:schemeClr val="bg2"/>
            </a:solidFill>
            <a:prstDash val="solid"/>
          </a:ln>
        </p:spPr>
      </p:sp>
      <p:sp>
        <p:nvSpPr>
          <p:cNvPr id="34" name="Text 32"/>
          <p:cNvSpPr txBox="1"/>
          <p:nvPr/>
        </p:nvSpPr>
        <p:spPr>
          <a:xfrm>
            <a:off x="8275320" y="5303520"/>
            <a:ext cx="3108960" cy="914400"/>
          </a:xfrm>
          <a:prstGeom prst="rect">
            <a:avLst/>
          </a:prstGeom>
          <a:noFill/>
          <a:ln/>
        </p:spPr>
        <p:txBody>
          <a:bodyPr wrap="square" lIns="0" tIns="0" rIns="0" bIns="0" rtlCol="0" anchor="ctr"/>
          <a:lstStyle/>
          <a:p>
            <a:pPr indent="0" marL="0">
              <a:buNone/>
            </a:pPr>
            <a:r>
              <a:rPr lang="en-US" sz="1800" b="1" dirty="0">
                <a:solidFill>
                  <a:schemeClr val="tx2"/>
                </a:solidFill>
              </a:rPr>
              <a:t>1×1 conv + sigmoid</a:t>
            </a:r>
            <a:endParaRPr lang="en-US" sz="1800" dirty="0"/>
          </a:p>
          <a:p>
            <a:pPr indent="0" marL="0">
              <a:buNone/>
            </a:pPr>
            <a:r>
              <a:rPr lang="en-US" sz="1300" dirty="0">
                <a:solidFill>
                  <a:schemeClr val="accent5"/>
                </a:solidFill>
              </a:rPr>
              <a:t>RGB output in [0, 1]</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Loss function</a:t>
            </a:r>
            <a:endParaRPr lang="en-US" sz="3200" dirty="0"/>
          </a:p>
        </p:txBody>
      </p:sp>
      <p:sp>
        <p:nvSpPr>
          <p:cNvPr id="3" name="Shape 1"/>
          <p:cNvSpPr/>
          <p:nvPr/>
        </p:nvSpPr>
        <p:spPr>
          <a:xfrm>
            <a:off x="548640" y="1463040"/>
            <a:ext cx="11091672" cy="1097280"/>
          </a:xfrm>
          <a:prstGeom prst="roundRect">
            <a:avLst>
              <a:gd name="adj" fmla="val 6667"/>
            </a:avLst>
          </a:prstGeom>
          <a:solidFill>
            <a:schemeClr val="bg2"/>
          </a:solidFill>
          <a:ln w="12700">
            <a:solidFill>
              <a:schemeClr val="bg2"/>
            </a:solidFill>
            <a:prstDash val="solid"/>
          </a:ln>
        </p:spPr>
      </p:sp>
      <p:sp>
        <p:nvSpPr>
          <p:cNvPr id="4" name="Text 2"/>
          <p:cNvSpPr txBox="1"/>
          <p:nvPr/>
        </p:nvSpPr>
        <p:spPr>
          <a:xfrm>
            <a:off x="548640" y="1463040"/>
            <a:ext cx="11091672" cy="1097280"/>
          </a:xfrm>
          <a:prstGeom prst="rect">
            <a:avLst/>
          </a:prstGeom>
          <a:noFill/>
          <a:ln/>
        </p:spPr>
        <p:txBody>
          <a:bodyPr wrap="square" lIns="0" tIns="0" rIns="0" bIns="0" rtlCol="0" anchor="ctr"/>
          <a:lstStyle/>
          <a:p>
            <a:pPr algn="ctr" indent="0" marL="0">
              <a:buNone/>
            </a:pPr>
            <a:r>
              <a:rPr lang="en-US" sz="2200" i="1" dirty="0">
                <a:solidFill>
                  <a:schemeClr val="tx2"/>
                </a:solidFill>
                <a:latin typeface="Cambria" pitchFamily="34" charset="0"/>
                <a:ea typeface="Cambria" pitchFamily="34" charset="-122"/>
                <a:cs typeface="Cambria" pitchFamily="34" charset="-120"/>
              </a:rPr>
              <a:t>L_total = L1 + 0.5 × (1 − SSIM)</a:t>
            </a:r>
            <a:endParaRPr lang="en-US" sz="2200" dirty="0"/>
          </a:p>
        </p:txBody>
      </p:sp>
      <p:sp>
        <p:nvSpPr>
          <p:cNvPr id="5" name="Shape 3"/>
          <p:cNvSpPr/>
          <p:nvPr/>
        </p:nvSpPr>
        <p:spPr>
          <a:xfrm>
            <a:off x="548640" y="2926080"/>
            <a:ext cx="3520440" cy="3017520"/>
          </a:xfrm>
          <a:prstGeom prst="roundRect">
            <a:avLst>
              <a:gd name="adj" fmla="val 2424"/>
            </a:avLst>
          </a:prstGeom>
          <a:solidFill>
            <a:schemeClr val="bg2"/>
          </a:solidFill>
          <a:ln w="12700">
            <a:solidFill>
              <a:schemeClr val="bg2"/>
            </a:solidFill>
            <a:prstDash val="solid"/>
          </a:ln>
        </p:spPr>
      </p:sp>
      <p:sp>
        <p:nvSpPr>
          <p:cNvPr id="6" name="Text 4"/>
          <p:cNvSpPr txBox="1"/>
          <p:nvPr/>
        </p:nvSpPr>
        <p:spPr>
          <a:xfrm>
            <a:off x="822960" y="3108960"/>
            <a:ext cx="2971800" cy="2651760"/>
          </a:xfrm>
          <a:prstGeom prst="rect">
            <a:avLst/>
          </a:prstGeom>
          <a:noFill/>
          <a:ln/>
        </p:spPr>
        <p:txBody>
          <a:bodyPr wrap="square" lIns="0" tIns="0" rIns="0" bIns="0" rtlCol="0" anchor="t"/>
          <a:lstStyle/>
          <a:p>
            <a:pPr indent="0" marL="0">
              <a:spcAft>
                <a:spcPts val="600"/>
              </a:spcAft>
              <a:buNone/>
            </a:pPr>
            <a:r>
              <a:rPr lang="en-US" sz="1900" b="1" dirty="0">
                <a:solidFill>
                  <a:schemeClr val="tx2"/>
                </a:solidFill>
                <a:latin typeface="Cambria" pitchFamily="34" charset="0"/>
                <a:ea typeface="Cambria" pitchFamily="34" charset="-122"/>
                <a:cs typeface="Cambria" pitchFamily="34" charset="-120"/>
              </a:rPr>
              <a:t>L1 loss</a:t>
            </a:r>
            <a:endParaRPr lang="en-US" sz="1900" dirty="0"/>
          </a:p>
          <a:p>
            <a:pPr indent="0" marL="0">
              <a:spcAft>
                <a:spcPts val="600"/>
              </a:spcAft>
              <a:buNone/>
            </a:pPr>
            <a:r>
              <a:rPr lang="en-US" sz="1500" dirty="0">
                <a:solidFill>
                  <a:schemeClr val="tx1"/>
                </a:solidFill>
              </a:rPr>
              <a:t>Average absolute pixel difference between prediction and ground truth</a:t>
            </a:r>
            <a:endParaRPr lang="en-US" sz="1900" dirty="0"/>
          </a:p>
          <a:p>
            <a:pPr indent="0" marL="0">
              <a:spcAft>
                <a:spcPts val="600"/>
              </a:spcAft>
              <a:buNone/>
            </a:pPr>
            <a:r>
              <a:rPr lang="en-US" sz="600" dirty="0">
                <a:solidFill>
                  <a:srgbClr val="000000"/>
                </a:solidFill>
              </a:rPr>
              <a:t> </a:t>
            </a:r>
            <a:endParaRPr lang="en-US" sz="1900" dirty="0"/>
          </a:p>
          <a:p>
            <a:pPr indent="0" marL="0">
              <a:spcAft>
                <a:spcPts val="600"/>
              </a:spcAft>
              <a:buNone/>
            </a:pPr>
            <a:r>
              <a:rPr lang="en-US" sz="1500" b="1" dirty="0">
                <a:solidFill>
                  <a:schemeClr val="accent6"/>
                </a:solidFill>
              </a:rPr>
              <a:t>Gets brightness and colour right</a:t>
            </a:r>
            <a:endParaRPr lang="en-US" sz="1900" dirty="0"/>
          </a:p>
        </p:txBody>
      </p:sp>
      <p:sp>
        <p:nvSpPr>
          <p:cNvPr id="7" name="Shape 5"/>
          <p:cNvSpPr/>
          <p:nvPr/>
        </p:nvSpPr>
        <p:spPr>
          <a:xfrm>
            <a:off x="4297680" y="2926080"/>
            <a:ext cx="3520440" cy="3017520"/>
          </a:xfrm>
          <a:prstGeom prst="roundRect">
            <a:avLst>
              <a:gd name="adj" fmla="val 2424"/>
            </a:avLst>
          </a:prstGeom>
          <a:solidFill>
            <a:schemeClr val="bg2"/>
          </a:solidFill>
          <a:ln w="12700">
            <a:solidFill>
              <a:schemeClr val="bg2"/>
            </a:solidFill>
            <a:prstDash val="solid"/>
          </a:ln>
        </p:spPr>
      </p:sp>
      <p:sp>
        <p:nvSpPr>
          <p:cNvPr id="8" name="Text 6"/>
          <p:cNvSpPr txBox="1"/>
          <p:nvPr/>
        </p:nvSpPr>
        <p:spPr>
          <a:xfrm>
            <a:off x="4572000" y="3108960"/>
            <a:ext cx="2971800" cy="2651760"/>
          </a:xfrm>
          <a:prstGeom prst="rect">
            <a:avLst/>
          </a:prstGeom>
          <a:noFill/>
          <a:ln/>
        </p:spPr>
        <p:txBody>
          <a:bodyPr wrap="square" lIns="0" tIns="0" rIns="0" bIns="0" rtlCol="0" anchor="t"/>
          <a:lstStyle/>
          <a:p>
            <a:pPr indent="0" marL="0">
              <a:spcAft>
                <a:spcPts val="600"/>
              </a:spcAft>
              <a:buNone/>
            </a:pPr>
            <a:r>
              <a:rPr lang="en-US" sz="1900" b="1" dirty="0">
                <a:solidFill>
                  <a:schemeClr val="tx2"/>
                </a:solidFill>
                <a:latin typeface="Cambria" pitchFamily="34" charset="0"/>
                <a:ea typeface="Cambria" pitchFamily="34" charset="-122"/>
                <a:cs typeface="Cambria" pitchFamily="34" charset="-120"/>
              </a:rPr>
              <a:t>SSIM term</a:t>
            </a:r>
            <a:endParaRPr lang="en-US" sz="1900" dirty="0"/>
          </a:p>
          <a:p>
            <a:pPr indent="0" marL="0">
              <a:spcAft>
                <a:spcPts val="600"/>
              </a:spcAft>
              <a:buNone/>
            </a:pPr>
            <a:r>
              <a:rPr lang="en-US" sz="1500" dirty="0">
                <a:solidFill>
                  <a:schemeClr val="tx1"/>
                </a:solidFill>
              </a:rPr>
              <a:t>Compares local mean, variance and covariance in 11 × 11 windows</a:t>
            </a:r>
            <a:endParaRPr lang="en-US" sz="1900" dirty="0"/>
          </a:p>
          <a:p>
            <a:pPr indent="0" marL="0">
              <a:spcAft>
                <a:spcPts val="600"/>
              </a:spcAft>
              <a:buNone/>
            </a:pPr>
            <a:r>
              <a:rPr lang="en-US" sz="600" dirty="0">
                <a:solidFill>
                  <a:srgbClr val="000000"/>
                </a:solidFill>
              </a:rPr>
              <a:t> </a:t>
            </a:r>
            <a:endParaRPr lang="en-US" sz="1900" dirty="0"/>
          </a:p>
          <a:p>
            <a:pPr indent="0" marL="0">
              <a:spcAft>
                <a:spcPts val="600"/>
              </a:spcAft>
              <a:buNone/>
            </a:pPr>
            <a:r>
              <a:rPr lang="en-US" sz="1500" b="1" dirty="0">
                <a:solidFill>
                  <a:schemeClr val="accent6"/>
                </a:solidFill>
              </a:rPr>
              <a:t>Keeps edges, texture and structure</a:t>
            </a:r>
            <a:endParaRPr lang="en-US" sz="1900" dirty="0"/>
          </a:p>
        </p:txBody>
      </p:sp>
      <p:sp>
        <p:nvSpPr>
          <p:cNvPr id="9" name="Shape 7"/>
          <p:cNvSpPr/>
          <p:nvPr/>
        </p:nvSpPr>
        <p:spPr>
          <a:xfrm>
            <a:off x="8046720" y="2926080"/>
            <a:ext cx="3520440" cy="3017520"/>
          </a:xfrm>
          <a:prstGeom prst="roundRect">
            <a:avLst>
              <a:gd name="adj" fmla="val 2424"/>
            </a:avLst>
          </a:prstGeom>
          <a:solidFill>
            <a:schemeClr val="tx2"/>
          </a:solidFill>
          <a:ln w="12700">
            <a:solidFill>
              <a:schemeClr val="tx2"/>
            </a:solidFill>
            <a:prstDash val="solid"/>
          </a:ln>
        </p:spPr>
      </p:sp>
      <p:sp>
        <p:nvSpPr>
          <p:cNvPr id="10" name="Text 8"/>
          <p:cNvSpPr txBox="1"/>
          <p:nvPr/>
        </p:nvSpPr>
        <p:spPr>
          <a:xfrm>
            <a:off x="8321040" y="3108960"/>
            <a:ext cx="2971800" cy="2651760"/>
          </a:xfrm>
          <a:prstGeom prst="rect">
            <a:avLst/>
          </a:prstGeom>
          <a:noFill/>
          <a:ln/>
        </p:spPr>
        <p:txBody>
          <a:bodyPr wrap="square" lIns="0" tIns="0" rIns="0" bIns="0" rtlCol="0" anchor="t"/>
          <a:lstStyle/>
          <a:p>
            <a:pPr indent="0" marL="0">
              <a:spcAft>
                <a:spcPts val="600"/>
              </a:spcAft>
              <a:buNone/>
            </a:pPr>
            <a:r>
              <a:rPr lang="en-US" sz="1900" b="1" dirty="0">
                <a:solidFill>
                  <a:schemeClr val="accent1"/>
                </a:solidFill>
                <a:latin typeface="Cambria" pitchFamily="34" charset="0"/>
                <a:ea typeface="Cambria" pitchFamily="34" charset="-122"/>
                <a:cs typeface="Cambria" pitchFamily="34" charset="-120"/>
              </a:rPr>
              <a:t>Combined</a:t>
            </a:r>
            <a:endParaRPr lang="en-US" sz="1900" dirty="0"/>
          </a:p>
          <a:p>
            <a:pPr indent="0" marL="0">
              <a:spcAft>
                <a:spcPts val="600"/>
              </a:spcAft>
              <a:buNone/>
            </a:pPr>
            <a:r>
              <a:rPr lang="en-US" sz="1500" dirty="0">
                <a:solidFill>
                  <a:schemeClr val="bg1"/>
                </a:solidFill>
              </a:rPr>
              <a:t>L1 alone tends to blur; SSIM alone can drift in colour</a:t>
            </a:r>
            <a:endParaRPr lang="en-US" sz="1900" dirty="0"/>
          </a:p>
          <a:p>
            <a:pPr indent="0" marL="0">
              <a:spcAft>
                <a:spcPts val="600"/>
              </a:spcAft>
              <a:buNone/>
            </a:pPr>
            <a:r>
              <a:rPr lang="en-US" sz="600" dirty="0">
                <a:solidFill>
                  <a:srgbClr val="000000"/>
                </a:solidFill>
              </a:rPr>
              <a:t> </a:t>
            </a:r>
            <a:endParaRPr lang="en-US" sz="1900" dirty="0"/>
          </a:p>
          <a:p>
            <a:pPr indent="0" marL="0">
              <a:spcAft>
                <a:spcPts val="600"/>
              </a:spcAft>
              <a:buNone/>
            </a:pPr>
            <a:r>
              <a:rPr lang="en-US" sz="1500" b="1" dirty="0">
                <a:solidFill>
                  <a:schemeClr val="accent1"/>
                </a:solidFill>
              </a:rPr>
              <a:t>Pixel accuracy + structural quality</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Training configuration</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669280" cy="914400"/>
        </p:xfrm>
        <a:graphic>
          <a:graphicData uri="http://schemas.openxmlformats.org/drawingml/2006/table">
            <a:tbl>
              <a:tblPr/>
              <a:tblGrid>
                <a:gridCol w="2560320"/>
                <a:gridCol w="3108960"/>
              </a:tblGrid>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Epochs</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Adam</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Learning rate</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0.001</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LR schedule</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Cosine annealing</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Batch size</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Crop size</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256 × 256</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Hardware</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Tesla T4 (Colab)</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r h="512064">
                <a:tc>
                  <a:txBody>
                    <a:bodyPr/>
                    <a:lstStyle/>
                    <a:p>
                      <a:pPr indent="0" marL="0">
                        <a:buNone/>
                      </a:pPr>
                      <a:r>
                        <a:rPr lang="en-US" sz="1500" b="1" dirty="0">
                          <a:solidFill>
                            <a:srgbClr val="1B2333"/>
                          </a:solidFill>
                          <a:latin typeface="Calibri" pitchFamily="34" charset="0"/>
                          <a:ea typeface="Calibri" pitchFamily="34" charset="-122"/>
                          <a:cs typeface="Calibri" pitchFamily="34" charset="-120"/>
                        </a:rPr>
                        <a:t>Time per epoch</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 14.5 s</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Shape 1"/>
          <p:cNvSpPr/>
          <p:nvPr/>
        </p:nvSpPr>
        <p:spPr>
          <a:xfrm>
            <a:off x="6766560" y="1463040"/>
            <a:ext cx="4873752" cy="1554480"/>
          </a:xfrm>
          <a:prstGeom prst="roundRect">
            <a:avLst>
              <a:gd name="adj" fmla="val 4706"/>
            </a:avLst>
          </a:prstGeom>
          <a:solidFill>
            <a:schemeClr val="tx2"/>
          </a:solidFill>
          <a:ln w="12700">
            <a:solidFill>
              <a:schemeClr val="tx2"/>
            </a:solidFill>
            <a:prstDash val="solid"/>
          </a:ln>
        </p:spPr>
      </p:sp>
      <p:sp>
        <p:nvSpPr>
          <p:cNvPr id="5" name="Text 2"/>
          <p:cNvSpPr txBox="1"/>
          <p:nvPr/>
        </p:nvSpPr>
        <p:spPr>
          <a:xfrm>
            <a:off x="7040880" y="1463040"/>
            <a:ext cx="4389120" cy="15544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0.1840</a:t>
            </a:r>
            <a:endParaRPr lang="en-US" sz="4000" dirty="0"/>
          </a:p>
          <a:p>
            <a:pPr indent="0" marL="0">
              <a:buNone/>
            </a:pPr>
            <a:r>
              <a:rPr lang="en-US" sz="1400" dirty="0">
                <a:solidFill>
                  <a:schemeClr val="bg1"/>
                </a:solidFill>
              </a:rPr>
              <a:t>lowest training loss (epoch 44)</a:t>
            </a:r>
            <a:endParaRPr lang="en-US" sz="4000" dirty="0"/>
          </a:p>
        </p:txBody>
      </p:sp>
      <p:sp>
        <p:nvSpPr>
          <p:cNvPr id="6" name="Shape 3"/>
          <p:cNvSpPr/>
          <p:nvPr/>
        </p:nvSpPr>
        <p:spPr>
          <a:xfrm>
            <a:off x="6766560" y="3246120"/>
            <a:ext cx="4873752" cy="1554480"/>
          </a:xfrm>
          <a:prstGeom prst="roundRect">
            <a:avLst>
              <a:gd name="adj" fmla="val 4706"/>
            </a:avLst>
          </a:prstGeom>
          <a:solidFill>
            <a:schemeClr val="bg2"/>
          </a:solidFill>
          <a:ln w="12700">
            <a:solidFill>
              <a:schemeClr val="bg2"/>
            </a:solidFill>
            <a:prstDash val="solid"/>
          </a:ln>
        </p:spPr>
      </p:sp>
      <p:sp>
        <p:nvSpPr>
          <p:cNvPr id="7" name="Text 4"/>
          <p:cNvSpPr txBox="1"/>
          <p:nvPr/>
        </p:nvSpPr>
        <p:spPr>
          <a:xfrm>
            <a:off x="7040880" y="3246120"/>
            <a:ext cx="4389120" cy="15544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0.1872</a:t>
            </a:r>
            <a:endParaRPr lang="en-US" sz="4000" dirty="0"/>
          </a:p>
          <a:p>
            <a:pPr indent="0" marL="0">
              <a:buNone/>
            </a:pPr>
            <a:r>
              <a:rPr lang="en-US" sz="1400" dirty="0">
                <a:solidFill>
                  <a:schemeClr val="accent5"/>
                </a:solidFill>
              </a:rPr>
              <a:t>training loss at epoch 50</a:t>
            </a:r>
            <a:endParaRPr lang="en-US" sz="4000" dirty="0"/>
          </a:p>
        </p:txBody>
      </p:sp>
      <p:sp>
        <p:nvSpPr>
          <p:cNvPr id="8" name="Text 5"/>
          <p:cNvSpPr txBox="1"/>
          <p:nvPr/>
        </p:nvSpPr>
        <p:spPr>
          <a:xfrm>
            <a:off x="6766560" y="5074920"/>
            <a:ext cx="4873752" cy="822960"/>
          </a:xfrm>
          <a:prstGeom prst="rect">
            <a:avLst/>
          </a:prstGeom>
          <a:noFill/>
          <a:ln/>
        </p:spPr>
        <p:txBody>
          <a:bodyPr wrap="square" lIns="0" tIns="0" rIns="0" bIns="0" rtlCol="0" anchor="t"/>
          <a:lstStyle/>
          <a:p>
            <a:pPr indent="0" marL="0">
              <a:buNone/>
            </a:pPr>
            <a:r>
              <a:rPr lang="en-US" sz="1300" i="1" dirty="0">
                <a:solidFill>
                  <a:schemeClr val="accent5"/>
                </a:solidFill>
              </a:rPr>
              <a:t>Best checkpoint saved by lowest training loss. Training loss shows learning progress; test quality is measured separately with PSNR and SSIM.</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Watching the network learn</a:t>
            </a:r>
            <a:endParaRPr lang="en-US" sz="3200" dirty="0"/>
          </a:p>
        </p:txBody>
      </p:sp>
      <p:pic>
        <p:nvPicPr>
          <p:cNvPr id="3" name="Image 0" descr="/home/claude/work/out/crop_low.png">    </p:cNvPr>
          <p:cNvPicPr>
            <a:picLocks noChangeAspect="1"/>
          </p:cNvPicPr>
          <p:nvPr/>
        </p:nvPicPr>
        <p:blipFill>
          <a:blip r:embed="rId1"/>
          <a:stretch>
            <a:fillRect/>
          </a:stretch>
        </p:blipFill>
        <p:spPr>
          <a:xfrm>
            <a:off x="548640" y="1554480"/>
            <a:ext cx="1737360" cy="1737360"/>
          </a:xfrm>
          <a:prstGeom prst="rect">
            <a:avLst/>
          </a:prstGeom>
        </p:spPr>
      </p:pic>
      <p:sp>
        <p:nvSpPr>
          <p:cNvPr id="4" name="Text 1"/>
          <p:cNvSpPr txBox="1"/>
          <p:nvPr/>
        </p:nvSpPr>
        <p:spPr>
          <a:xfrm>
            <a:off x="548640" y="3383280"/>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Input</a:t>
            </a:r>
            <a:endParaRPr lang="en-US" sz="1400" dirty="0"/>
          </a:p>
        </p:txBody>
      </p:sp>
      <p:pic>
        <p:nvPicPr>
          <p:cNvPr id="5" name="Image 1" descr="/home/claude/work/out/ep1_pred.png">    </p:cNvPr>
          <p:cNvPicPr>
            <a:picLocks noChangeAspect="1"/>
          </p:cNvPicPr>
          <p:nvPr/>
        </p:nvPicPr>
        <p:blipFill>
          <a:blip r:embed="rId2"/>
          <a:stretch>
            <a:fillRect/>
          </a:stretch>
        </p:blipFill>
        <p:spPr>
          <a:xfrm>
            <a:off x="2419502" y="1554480"/>
            <a:ext cx="1737360" cy="1737360"/>
          </a:xfrm>
          <a:prstGeom prst="rect">
            <a:avLst/>
          </a:prstGeom>
        </p:spPr>
      </p:pic>
      <p:sp>
        <p:nvSpPr>
          <p:cNvPr id="6" name="Text 2"/>
          <p:cNvSpPr txBox="1"/>
          <p:nvPr/>
        </p:nvSpPr>
        <p:spPr>
          <a:xfrm>
            <a:off x="2419502" y="3383280"/>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Epoch 1</a:t>
            </a:r>
            <a:endParaRPr lang="en-US" sz="1400" dirty="0"/>
          </a:p>
        </p:txBody>
      </p:sp>
      <p:pic>
        <p:nvPicPr>
          <p:cNvPr id="7" name="Image 2" descr="/home/claude/work/out/ep5_pred.png">    </p:cNvPr>
          <p:cNvPicPr>
            <a:picLocks noChangeAspect="1"/>
          </p:cNvPicPr>
          <p:nvPr/>
        </p:nvPicPr>
        <p:blipFill>
          <a:blip r:embed="rId3"/>
          <a:stretch>
            <a:fillRect/>
          </a:stretch>
        </p:blipFill>
        <p:spPr>
          <a:xfrm>
            <a:off x="4290365" y="1554480"/>
            <a:ext cx="1737360" cy="1737360"/>
          </a:xfrm>
          <a:prstGeom prst="rect">
            <a:avLst/>
          </a:prstGeom>
        </p:spPr>
      </p:pic>
      <p:sp>
        <p:nvSpPr>
          <p:cNvPr id="8" name="Text 3"/>
          <p:cNvSpPr txBox="1"/>
          <p:nvPr/>
        </p:nvSpPr>
        <p:spPr>
          <a:xfrm>
            <a:off x="4290365" y="3383280"/>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Epoch 5</a:t>
            </a:r>
            <a:endParaRPr lang="en-US" sz="1400" dirty="0"/>
          </a:p>
        </p:txBody>
      </p:sp>
      <p:pic>
        <p:nvPicPr>
          <p:cNvPr id="9" name="Image 3" descr="/home/claude/work/out/ep10_pred.png">    </p:cNvPr>
          <p:cNvPicPr>
            <a:picLocks noChangeAspect="1"/>
          </p:cNvPicPr>
          <p:nvPr/>
        </p:nvPicPr>
        <p:blipFill>
          <a:blip r:embed="rId4"/>
          <a:stretch>
            <a:fillRect/>
          </a:stretch>
        </p:blipFill>
        <p:spPr>
          <a:xfrm>
            <a:off x="6161227" y="1554480"/>
            <a:ext cx="1737360" cy="1737360"/>
          </a:xfrm>
          <a:prstGeom prst="rect">
            <a:avLst/>
          </a:prstGeom>
        </p:spPr>
      </p:pic>
      <p:sp>
        <p:nvSpPr>
          <p:cNvPr id="10" name="Text 4"/>
          <p:cNvSpPr txBox="1"/>
          <p:nvPr/>
        </p:nvSpPr>
        <p:spPr>
          <a:xfrm>
            <a:off x="6161227" y="3383280"/>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Epoch 10</a:t>
            </a:r>
            <a:endParaRPr lang="en-US" sz="1400" dirty="0"/>
          </a:p>
        </p:txBody>
      </p:sp>
      <p:pic>
        <p:nvPicPr>
          <p:cNvPr id="11" name="Image 4" descr="/home/claude/work/out/ep18_pred.png">    </p:cNvPr>
          <p:cNvPicPr>
            <a:picLocks noChangeAspect="1"/>
          </p:cNvPicPr>
          <p:nvPr/>
        </p:nvPicPr>
        <p:blipFill>
          <a:blip r:embed="rId5"/>
          <a:stretch>
            <a:fillRect/>
          </a:stretch>
        </p:blipFill>
        <p:spPr>
          <a:xfrm>
            <a:off x="8032090" y="1554480"/>
            <a:ext cx="1737360" cy="1737360"/>
          </a:xfrm>
          <a:prstGeom prst="rect">
            <a:avLst/>
          </a:prstGeom>
        </p:spPr>
      </p:pic>
      <p:sp>
        <p:nvSpPr>
          <p:cNvPr id="12" name="Text 5"/>
          <p:cNvSpPr txBox="1"/>
          <p:nvPr/>
        </p:nvSpPr>
        <p:spPr>
          <a:xfrm>
            <a:off x="8032090" y="3383280"/>
            <a:ext cx="1737360" cy="320040"/>
          </a:xfrm>
          <a:prstGeom prst="rect">
            <a:avLst/>
          </a:prstGeom>
          <a:noFill/>
          <a:ln/>
        </p:spPr>
        <p:txBody>
          <a:bodyPr wrap="square" lIns="0" tIns="0" rIns="0" bIns="0" rtlCol="0" anchor="ctr"/>
          <a:lstStyle/>
          <a:p>
            <a:pPr algn="ctr" indent="0" marL="0">
              <a:buNone/>
            </a:pPr>
            <a:r>
              <a:rPr lang="en-US" sz="1400" b="1" dirty="0">
                <a:solidFill>
                  <a:schemeClr val="tx2"/>
                </a:solidFill>
              </a:rPr>
              <a:t>Epoch 18</a:t>
            </a:r>
            <a:endParaRPr lang="en-US" sz="1400" dirty="0"/>
          </a:p>
        </p:txBody>
      </p:sp>
      <p:pic>
        <p:nvPicPr>
          <p:cNvPr id="13" name="Image 5" descr="/home/claude/work/out/crop_gt.png">    </p:cNvPr>
          <p:cNvPicPr>
            <a:picLocks noChangeAspect="1"/>
          </p:cNvPicPr>
          <p:nvPr/>
        </p:nvPicPr>
        <p:blipFill>
          <a:blip r:embed="rId6"/>
          <a:stretch>
            <a:fillRect/>
          </a:stretch>
        </p:blipFill>
        <p:spPr>
          <a:xfrm>
            <a:off x="9902952" y="1554480"/>
            <a:ext cx="1737360" cy="1737360"/>
          </a:xfrm>
          <a:prstGeom prst="rect">
            <a:avLst/>
          </a:prstGeom>
        </p:spPr>
      </p:pic>
      <p:sp>
        <p:nvSpPr>
          <p:cNvPr id="14" name="Text 6"/>
          <p:cNvSpPr txBox="1"/>
          <p:nvPr/>
        </p:nvSpPr>
        <p:spPr>
          <a:xfrm>
            <a:off x="9902952" y="3383280"/>
            <a:ext cx="1737360" cy="320040"/>
          </a:xfrm>
          <a:prstGeom prst="rect">
            <a:avLst/>
          </a:prstGeom>
          <a:noFill/>
          <a:ln/>
        </p:spPr>
        <p:txBody>
          <a:bodyPr wrap="square" lIns="0" tIns="0" rIns="0" bIns="0" rtlCol="0" anchor="ctr"/>
          <a:lstStyle/>
          <a:p>
            <a:pPr algn="ctr" indent="0" marL="0">
              <a:buNone/>
            </a:pPr>
            <a:r>
              <a:rPr lang="en-US" sz="1400" b="1" dirty="0">
                <a:solidFill>
                  <a:schemeClr val="accent6"/>
                </a:solidFill>
              </a:rPr>
              <a:t>Ground truth</a:t>
            </a:r>
            <a:endParaRPr lang="en-US" sz="1400" dirty="0"/>
          </a:p>
        </p:txBody>
      </p:sp>
      <p:sp>
        <p:nvSpPr>
          <p:cNvPr id="15" name="Shape 7"/>
          <p:cNvSpPr/>
          <p:nvPr/>
        </p:nvSpPr>
        <p:spPr>
          <a:xfrm>
            <a:off x="548640" y="4069080"/>
            <a:ext cx="3520440" cy="1691640"/>
          </a:xfrm>
          <a:prstGeom prst="roundRect">
            <a:avLst>
              <a:gd name="adj" fmla="val 4324"/>
            </a:avLst>
          </a:prstGeom>
          <a:solidFill>
            <a:schemeClr val="bg2"/>
          </a:solidFill>
          <a:ln w="12700">
            <a:solidFill>
              <a:schemeClr val="bg2"/>
            </a:solidFill>
            <a:prstDash val="solid"/>
          </a:ln>
        </p:spPr>
      </p:sp>
      <p:sp>
        <p:nvSpPr>
          <p:cNvPr id="16" name="Text 8"/>
          <p:cNvSpPr txBox="1"/>
          <p:nvPr/>
        </p:nvSpPr>
        <p:spPr>
          <a:xfrm>
            <a:off x="777240" y="4160520"/>
            <a:ext cx="3063240" cy="15087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Epoch 1</a:t>
            </a:r>
            <a:endParaRPr lang="en-US" sz="1600" dirty="0"/>
          </a:p>
          <a:p>
            <a:pPr indent="0" marL="0">
              <a:spcAft>
                <a:spcPts val="400"/>
              </a:spcAft>
              <a:buNone/>
            </a:pPr>
            <a:r>
              <a:rPr lang="en-US" sz="1400" dirty="0">
                <a:solidFill>
                  <a:schemeClr val="tx1"/>
                </a:solidFill>
              </a:rPr>
              <a:t>Brightness learned almost immediately, but colours washed out (loss 0.2528)</a:t>
            </a:r>
            <a:endParaRPr lang="en-US" sz="1600" dirty="0"/>
          </a:p>
        </p:txBody>
      </p:sp>
      <p:sp>
        <p:nvSpPr>
          <p:cNvPr id="17" name="Shape 9"/>
          <p:cNvSpPr/>
          <p:nvPr/>
        </p:nvSpPr>
        <p:spPr>
          <a:xfrm>
            <a:off x="4297680" y="4069080"/>
            <a:ext cx="3520440" cy="1691640"/>
          </a:xfrm>
          <a:prstGeom prst="roundRect">
            <a:avLst>
              <a:gd name="adj" fmla="val 4324"/>
            </a:avLst>
          </a:prstGeom>
          <a:solidFill>
            <a:schemeClr val="bg2"/>
          </a:solidFill>
          <a:ln w="12700">
            <a:solidFill>
              <a:schemeClr val="bg2"/>
            </a:solidFill>
            <a:prstDash val="solid"/>
          </a:ln>
        </p:spPr>
      </p:sp>
      <p:sp>
        <p:nvSpPr>
          <p:cNvPr id="18" name="Text 10"/>
          <p:cNvSpPr txBox="1"/>
          <p:nvPr/>
        </p:nvSpPr>
        <p:spPr>
          <a:xfrm>
            <a:off x="4526280" y="4160520"/>
            <a:ext cx="3063240" cy="15087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Epochs 5–10</a:t>
            </a:r>
            <a:endParaRPr lang="en-US" sz="1600" dirty="0"/>
          </a:p>
          <a:p>
            <a:pPr indent="0" marL="0">
              <a:spcAft>
                <a:spcPts val="400"/>
              </a:spcAft>
              <a:buNone/>
            </a:pPr>
            <a:r>
              <a:rPr lang="en-US" sz="1400" dirty="0">
                <a:solidFill>
                  <a:schemeClr val="tx1"/>
                </a:solidFill>
              </a:rPr>
              <a:t>Colour starts returning: blue body, orange ears</a:t>
            </a:r>
            <a:endParaRPr lang="en-US" sz="1600" dirty="0"/>
          </a:p>
        </p:txBody>
      </p:sp>
      <p:sp>
        <p:nvSpPr>
          <p:cNvPr id="19" name="Shape 11"/>
          <p:cNvSpPr/>
          <p:nvPr/>
        </p:nvSpPr>
        <p:spPr>
          <a:xfrm>
            <a:off x="8046720" y="4069080"/>
            <a:ext cx="3520440" cy="1691640"/>
          </a:xfrm>
          <a:prstGeom prst="roundRect">
            <a:avLst>
              <a:gd name="adj" fmla="val 4324"/>
            </a:avLst>
          </a:prstGeom>
          <a:solidFill>
            <a:schemeClr val="bg2"/>
          </a:solidFill>
          <a:ln w="12700">
            <a:solidFill>
              <a:schemeClr val="bg2"/>
            </a:solidFill>
            <a:prstDash val="solid"/>
          </a:ln>
        </p:spPr>
      </p:sp>
      <p:sp>
        <p:nvSpPr>
          <p:cNvPr id="20" name="Text 12"/>
          <p:cNvSpPr txBox="1"/>
          <p:nvPr/>
        </p:nvSpPr>
        <p:spPr>
          <a:xfrm>
            <a:off x="8275320" y="4160520"/>
            <a:ext cx="3063240" cy="15087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Epoch 18</a:t>
            </a:r>
            <a:endParaRPr lang="en-US" sz="1600" dirty="0"/>
          </a:p>
          <a:p>
            <a:pPr indent="0" marL="0">
              <a:spcAft>
                <a:spcPts val="400"/>
              </a:spcAft>
              <a:buNone/>
            </a:pPr>
            <a:r>
              <a:rPr lang="en-US" sz="1400" dirty="0">
                <a:solidFill>
                  <a:schemeClr val="tx1"/>
                </a:solidFill>
              </a:rPr>
              <a:t>Close to ground truth; bow and badge colours still muted (loss 0.2282)</a:t>
            </a:r>
            <a:endParaRPr lang="en-US" sz="1600" dirty="0"/>
          </a:p>
        </p:txBody>
      </p:sp>
      <p:sp>
        <p:nvSpPr>
          <p:cNvPr id="21" name="Text 13"/>
          <p:cNvSpPr txBox="1"/>
          <p:nvPr/>
        </p:nvSpPr>
        <p:spPr>
          <a:xfrm>
            <a:off x="548640" y="5943600"/>
            <a:ext cx="10972800" cy="320040"/>
          </a:xfrm>
          <a:prstGeom prst="rect">
            <a:avLst/>
          </a:prstGeom>
          <a:noFill/>
          <a:ln/>
        </p:spPr>
        <p:txBody>
          <a:bodyPr wrap="square" lIns="0" tIns="0" rIns="0" bIns="0" rtlCol="0" anchor="ctr"/>
          <a:lstStyle/>
          <a:p>
            <a:pPr algn="l" indent="0" marL="0">
              <a:buNone/>
            </a:pPr>
            <a:r>
              <a:rPr lang="en-US" sz="1100" i="1" dirty="0">
                <a:solidFill>
                  <a:schemeClr val="accent5"/>
                </a:solidFill>
              </a:rPr>
              <a:t>Fixed 256 × 256 preview crop from the training set, shown after each epoch in the notebook.</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Results: U-Net outperforms every traditional method</a:t>
            </a:r>
            <a:endParaRPr lang="en-US" sz="3200" dirty="0"/>
          </a:p>
        </p:txBody>
      </p:sp>
      <p:graphicFrame>
        <p:nvGraphicFramePr>
          <p:cNvPr id="3" name="Chart 0" descr=""/>
          <p:cNvGraphicFramePr/>
          <p:nvPr/>
        </p:nvGraphicFramePr>
        <p:xfrm>
          <a:off x="548640" y="137160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371600"/>
          <a:ext cx="5486400" cy="42062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669280"/>
            <a:ext cx="11064240" cy="411480"/>
          </a:xfrm>
          <a:prstGeom prst="rect">
            <a:avLst/>
          </a:prstGeom>
          <a:noFill/>
          <a:ln/>
        </p:spPr>
        <p:txBody>
          <a:bodyPr wrap="square" lIns="0" tIns="0" rIns="0" bIns="0" rtlCol="0" anchor="ctr"/>
          <a:lstStyle/>
          <a:p>
            <a:pPr indent="0" marL="0">
              <a:buNone/>
            </a:pPr>
            <a:r>
              <a:rPr lang="en-US" sz="1500" b="1" dirty="0">
                <a:solidFill>
                  <a:schemeClr val="accent6"/>
                </a:solidFill>
              </a:rPr>
              <a:t>+3.4 dB PSNR</a:t>
            </a:r>
            <a:pPr indent="0" marL="0">
              <a:buNone/>
            </a:pPr>
            <a:r>
              <a:rPr lang="en-US" sz="1500" dirty="0">
                <a:solidFill>
                  <a:schemeClr val="tx1"/>
                </a:solidFill>
              </a:rPr>
              <a:t> and </a:t>
            </a:r>
            <a:pPr indent="0" marL="0">
              <a:buNone/>
            </a:pPr>
            <a:r>
              <a:rPr lang="en-US" sz="1500" b="1" dirty="0">
                <a:solidFill>
                  <a:schemeClr val="accent6"/>
                </a:solidFill>
              </a:rPr>
              <a:t>+0.19 SSIM</a:t>
            </a:r>
            <a:pPr indent="0" marL="0">
              <a:buNone/>
            </a:pPr>
            <a:r>
              <a:rPr lang="en-US" sz="1500" dirty="0">
                <a:solidFill>
                  <a:schemeClr val="tx1"/>
                </a:solidFill>
              </a:rPr>
              <a:t> over the best traditional method. Evaluated on all 15 LOL test pairs with scikit-image.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Results at a glance</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669280" cy="914400"/>
        </p:xfrm>
        <a:graphic>
          <a:graphicData uri="http://schemas.openxmlformats.org/drawingml/2006/table">
            <a:tbl>
              <a:tblPr/>
              <a:tblGrid>
                <a:gridCol w="2743200"/>
                <a:gridCol w="1463040"/>
                <a:gridCol w="1463040"/>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0F1A2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PSNR (dB)</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0F1A2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SSIM</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0F1A2E"/>
                    </a:solidFill>
                  </a:tcPr>
                </a:tc>
              </a:tr>
              <a:tr h="548640">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U-Net (ours)</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CE9C8"/>
                    </a:solidFill>
                  </a:tcPr>
                </a:tc>
                <a:tc>
                  <a:txBody>
                    <a:bodyPr/>
                    <a:lstStyle/>
                    <a:p>
                      <a:pPr algn="ctr" indent="0" marL="0">
                        <a:buNone/>
                      </a:pPr>
                      <a:r>
                        <a:rPr lang="en-US" sz="1500" b="1" dirty="0">
                          <a:solidFill>
                            <a:srgbClr val="1B2333"/>
                          </a:solidFill>
                          <a:latin typeface="Calibri" pitchFamily="34" charset="0"/>
                          <a:ea typeface="Calibri" pitchFamily="34" charset="-122"/>
                          <a:cs typeface="Calibri" pitchFamily="34" charset="-120"/>
                        </a:rPr>
                        <a:t>18.3099</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CE9C8"/>
                    </a:solidFill>
                  </a:tcPr>
                </a:tc>
                <a:tc>
                  <a:txBody>
                    <a:bodyPr/>
                    <a:lstStyle/>
                    <a:p>
                      <a:pPr algn="ctr" indent="0" marL="0">
                        <a:buNone/>
                      </a:pPr>
                      <a:r>
                        <a:rPr lang="en-US" sz="1500" b="1" dirty="0">
                          <a:solidFill>
                            <a:srgbClr val="1B2333"/>
                          </a:solidFill>
                          <a:latin typeface="Calibri" pitchFamily="34" charset="0"/>
                          <a:ea typeface="Calibri" pitchFamily="34" charset="-122"/>
                          <a:cs typeface="Calibri" pitchFamily="34" charset="-120"/>
                        </a:rPr>
                        <a:t>0.7797</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CE9C8"/>
                    </a:solidFill>
                  </a:tcPr>
                </a:tc>
              </a:tr>
              <a:tr h="548640">
                <a:tc>
                  <a:txBody>
                    <a:bodyPr/>
                    <a:lstStyle/>
                    <a:p>
                      <a:pPr algn="l" indent="0" marL="0">
                        <a:buNone/>
                      </a:pPr>
                      <a:r>
                        <a:rPr lang="en-US" sz="1500" dirty="0">
                          <a:solidFill>
                            <a:srgbClr val="1B2333"/>
                          </a:solidFill>
                          <a:latin typeface="Calibri" pitchFamily="34" charset="0"/>
                          <a:ea typeface="Calibri" pitchFamily="34" charset="-122"/>
                          <a:cs typeface="Calibri" pitchFamily="34" charset="-120"/>
                        </a:rPr>
                        <a:t>Multi-Scale Retinex</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14.8663</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0.5840</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r h="548640">
                <a:tc>
                  <a:txBody>
                    <a:bodyPr/>
                    <a:lstStyle/>
                    <a:p>
                      <a:pPr algn="l" indent="0" marL="0">
                        <a:buNone/>
                      </a:pPr>
                      <a:r>
                        <a:rPr lang="en-US" sz="1500" dirty="0">
                          <a:solidFill>
                            <a:srgbClr val="1B2333"/>
                          </a:solidFill>
                          <a:latin typeface="Calibri" pitchFamily="34" charset="0"/>
                          <a:ea typeface="Calibri" pitchFamily="34" charset="-122"/>
                          <a:cs typeface="Calibri" pitchFamily="34" charset="-120"/>
                        </a:rPr>
                        <a:t>Histogram Equalization</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14.2356</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0.4252</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500" dirty="0">
                          <a:solidFill>
                            <a:srgbClr val="1B2333"/>
                          </a:solidFill>
                          <a:latin typeface="Calibri" pitchFamily="34" charset="0"/>
                          <a:ea typeface="Calibri" pitchFamily="34" charset="-122"/>
                          <a:cs typeface="Calibri" pitchFamily="34" charset="-120"/>
                        </a:rPr>
                        <a:t>Single-Scale Retinex</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13.7931</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0.5875</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r h="548640">
                <a:tc>
                  <a:txBody>
                    <a:bodyPr/>
                    <a:lstStyle/>
                    <a:p>
                      <a:pPr algn="l" indent="0" marL="0">
                        <a:buNone/>
                      </a:pPr>
                      <a:r>
                        <a:rPr lang="en-US" sz="1500" dirty="0">
                          <a:solidFill>
                            <a:srgbClr val="1B2333"/>
                          </a:solidFill>
                          <a:latin typeface="Calibri" pitchFamily="34" charset="0"/>
                          <a:ea typeface="Calibri" pitchFamily="34" charset="-122"/>
                          <a:cs typeface="Calibri" pitchFamily="34" charset="-120"/>
                        </a:rPr>
                        <a:t>Gamma Correction</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10.6168</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0.4726</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algn="l" indent="0" marL="0">
                        <a:buNone/>
                      </a:pPr>
                      <a:r>
                        <a:rPr lang="en-US" sz="1500" dirty="0">
                          <a:solidFill>
                            <a:srgbClr val="1B2333"/>
                          </a:solidFill>
                          <a:latin typeface="Calibri" pitchFamily="34" charset="0"/>
                          <a:ea typeface="Calibri" pitchFamily="34" charset="-122"/>
                          <a:cs typeface="Calibri" pitchFamily="34" charset="-120"/>
                        </a:rPr>
                        <a:t>CLAHE</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9.6272</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c>
                  <a:txBody>
                    <a:bodyPr/>
                    <a:lstStyle/>
                    <a:p>
                      <a:pPr algn="ctr" indent="0" marL="0">
                        <a:buNone/>
                      </a:pPr>
                      <a:r>
                        <a:rPr lang="en-US" sz="1500" dirty="0">
                          <a:solidFill>
                            <a:srgbClr val="1B2333"/>
                          </a:solidFill>
                          <a:latin typeface="Calibri" pitchFamily="34" charset="0"/>
                          <a:ea typeface="Calibri" pitchFamily="34" charset="-122"/>
                          <a:cs typeface="Calibri" pitchFamily="34" charset="-120"/>
                        </a:rPr>
                        <a:t>0.3995</a:t>
                      </a:r>
                      <a:endParaRPr lang="en-US" sz="1500" dirty="0">
                        <a:latin typeface="Calibri" charset="0"/>
                        <a:ea typeface="Calibri" charset="0"/>
                        <a:cs typeface="Calibri" charset="0"/>
                      </a:endParaRPr>
                    </a:p>
                  </a:txBody>
                  <a:tcPr marL="91440" marR="91440" marT="91440" marB="91440" anchor="ctr">
                    <a:lnL w="0" cap="flat" cmpd="sng" algn="ctr">
                      <a:noFill/>
                    </a:lnL>
                    <a:lnR w="0" cap="flat" cmpd="sng" algn="ctr">
                      <a:noFill/>
                    </a:lnR>
                    <a:lnT w="0" cap="flat" cmpd="sng" algn="ctr">
                      <a:noFill/>
                    </a:lnT>
                    <a:lnB w="0" cap="flat" cmpd="sng" algn="ctr">
                      <a:noFill/>
                    </a:lnB>
                    <a:solidFill>
                      <a:srgbClr val="EEF2F7"/>
                    </a:solidFill>
                  </a:tcPr>
                </a:tc>
              </a:tr>
            </a:tbl>
          </a:graphicData>
        </a:graphic>
      </p:graphicFrame>
      <p:sp>
        <p:nvSpPr>
          <p:cNvPr id="4" name="Shape 1"/>
          <p:cNvSpPr/>
          <p:nvPr/>
        </p:nvSpPr>
        <p:spPr>
          <a:xfrm>
            <a:off x="6583680" y="1463040"/>
            <a:ext cx="5056632" cy="914400"/>
          </a:xfrm>
          <a:prstGeom prst="roundRect">
            <a:avLst>
              <a:gd name="adj" fmla="val 8000"/>
            </a:avLst>
          </a:prstGeom>
          <a:solidFill>
            <a:schemeClr val="bg2"/>
          </a:solidFill>
          <a:ln w="12700">
            <a:solidFill>
              <a:schemeClr val="bg2"/>
            </a:solidFill>
            <a:prstDash val="solid"/>
          </a:ln>
        </p:spPr>
      </p:sp>
      <p:sp>
        <p:nvSpPr>
          <p:cNvPr id="5" name="Text 2"/>
          <p:cNvSpPr txBox="1"/>
          <p:nvPr/>
        </p:nvSpPr>
        <p:spPr>
          <a:xfrm>
            <a:off x="6812280" y="1463040"/>
            <a:ext cx="4663440" cy="914400"/>
          </a:xfrm>
          <a:prstGeom prst="rect">
            <a:avLst/>
          </a:prstGeom>
          <a:noFill/>
          <a:ln/>
        </p:spPr>
        <p:txBody>
          <a:bodyPr wrap="square" lIns="0" tIns="0" rIns="0" bIns="0" rtlCol="0" anchor="ctr"/>
          <a:lstStyle/>
          <a:p>
            <a:pPr indent="0" marL="0">
              <a:buNone/>
            </a:pPr>
            <a:r>
              <a:rPr lang="en-US" sz="1400" b="1" dirty="0">
                <a:solidFill>
                  <a:schemeClr val="tx2"/>
                </a:solidFill>
              </a:rPr>
              <a:t>MSR  </a:t>
            </a:r>
            <a:pPr indent="0" marL="0">
              <a:buNone/>
            </a:pPr>
            <a:r>
              <a:rPr lang="en-US" sz="1400" dirty="0">
                <a:solidFill>
                  <a:schemeClr val="tx1"/>
                </a:solidFill>
              </a:rPr>
              <a:t>best traditional method by PSNR</a:t>
            </a:r>
            <a:endParaRPr lang="en-US" sz="1400" dirty="0"/>
          </a:p>
        </p:txBody>
      </p:sp>
      <p:sp>
        <p:nvSpPr>
          <p:cNvPr id="6" name="Shape 3"/>
          <p:cNvSpPr/>
          <p:nvPr/>
        </p:nvSpPr>
        <p:spPr>
          <a:xfrm>
            <a:off x="6583680" y="2560320"/>
            <a:ext cx="5056632" cy="914400"/>
          </a:xfrm>
          <a:prstGeom prst="roundRect">
            <a:avLst>
              <a:gd name="adj" fmla="val 8000"/>
            </a:avLst>
          </a:prstGeom>
          <a:solidFill>
            <a:schemeClr val="bg2"/>
          </a:solidFill>
          <a:ln w="12700">
            <a:solidFill>
              <a:schemeClr val="bg2"/>
            </a:solidFill>
            <a:prstDash val="solid"/>
          </a:ln>
        </p:spPr>
      </p:sp>
      <p:sp>
        <p:nvSpPr>
          <p:cNvPr id="7" name="Text 4"/>
          <p:cNvSpPr txBox="1"/>
          <p:nvPr/>
        </p:nvSpPr>
        <p:spPr>
          <a:xfrm>
            <a:off x="6812280" y="2560320"/>
            <a:ext cx="4663440" cy="914400"/>
          </a:xfrm>
          <a:prstGeom prst="rect">
            <a:avLst/>
          </a:prstGeom>
          <a:noFill/>
          <a:ln/>
        </p:spPr>
        <p:txBody>
          <a:bodyPr wrap="square" lIns="0" tIns="0" rIns="0" bIns="0" rtlCol="0" anchor="ctr"/>
          <a:lstStyle/>
          <a:p>
            <a:pPr indent="0" marL="0">
              <a:buNone/>
            </a:pPr>
            <a:r>
              <a:rPr lang="en-US" sz="1400" b="1" dirty="0">
                <a:solidFill>
                  <a:schemeClr val="tx2"/>
                </a:solidFill>
              </a:rPr>
              <a:t>SSR  </a:t>
            </a:r>
            <a:pPr indent="0" marL="0">
              <a:buNone/>
            </a:pPr>
            <a:r>
              <a:rPr lang="en-US" sz="1400" dirty="0">
                <a:solidFill>
                  <a:schemeClr val="tx1"/>
                </a:solidFill>
              </a:rPr>
              <a:t>slightly higher SSIM than MSR (0.5875 vs 0.5840)</a:t>
            </a:r>
            <a:endParaRPr lang="en-US" sz="1400" dirty="0"/>
          </a:p>
        </p:txBody>
      </p:sp>
      <p:sp>
        <p:nvSpPr>
          <p:cNvPr id="8" name="Shape 5"/>
          <p:cNvSpPr/>
          <p:nvPr/>
        </p:nvSpPr>
        <p:spPr>
          <a:xfrm>
            <a:off x="6583680" y="3657600"/>
            <a:ext cx="5056632" cy="914400"/>
          </a:xfrm>
          <a:prstGeom prst="roundRect">
            <a:avLst>
              <a:gd name="adj" fmla="val 8000"/>
            </a:avLst>
          </a:prstGeom>
          <a:solidFill>
            <a:schemeClr val="bg2"/>
          </a:solidFill>
          <a:ln w="12700">
            <a:solidFill>
              <a:schemeClr val="bg2"/>
            </a:solidFill>
            <a:prstDash val="solid"/>
          </a:ln>
        </p:spPr>
      </p:sp>
      <p:sp>
        <p:nvSpPr>
          <p:cNvPr id="9" name="Text 6"/>
          <p:cNvSpPr txBox="1"/>
          <p:nvPr/>
        </p:nvSpPr>
        <p:spPr>
          <a:xfrm>
            <a:off x="6812280" y="3657600"/>
            <a:ext cx="4663440" cy="914400"/>
          </a:xfrm>
          <a:prstGeom prst="rect">
            <a:avLst/>
          </a:prstGeom>
          <a:noFill/>
          <a:ln/>
        </p:spPr>
        <p:txBody>
          <a:bodyPr wrap="square" lIns="0" tIns="0" rIns="0" bIns="0" rtlCol="0" anchor="ctr"/>
          <a:lstStyle/>
          <a:p>
            <a:pPr indent="0" marL="0">
              <a:buNone/>
            </a:pPr>
            <a:r>
              <a:rPr lang="en-US" sz="1400" b="1" dirty="0">
                <a:solidFill>
                  <a:schemeClr val="tx2"/>
                </a:solidFill>
              </a:rPr>
              <a:t>HE  </a:t>
            </a:r>
            <a:pPr indent="0" marL="0">
              <a:buNone/>
            </a:pPr>
            <a:r>
              <a:rPr lang="en-US" sz="1400" dirty="0">
                <a:solidFill>
                  <a:schemeClr val="tx1"/>
                </a:solidFill>
              </a:rPr>
              <a:t>good PSNR but low SSIM: more contrast ≠ preserved structure</a:t>
            </a:r>
            <a:endParaRPr lang="en-US" sz="1400" dirty="0"/>
          </a:p>
        </p:txBody>
      </p:sp>
      <p:sp>
        <p:nvSpPr>
          <p:cNvPr id="10" name="Shape 7"/>
          <p:cNvSpPr/>
          <p:nvPr/>
        </p:nvSpPr>
        <p:spPr>
          <a:xfrm>
            <a:off x="6583680" y="4754880"/>
            <a:ext cx="5056632" cy="9144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6812280" y="4754880"/>
            <a:ext cx="4663440" cy="914400"/>
          </a:xfrm>
          <a:prstGeom prst="rect">
            <a:avLst/>
          </a:prstGeom>
          <a:noFill/>
          <a:ln/>
        </p:spPr>
        <p:txBody>
          <a:bodyPr wrap="square" lIns="0" tIns="0" rIns="0" bIns="0" rtlCol="0" anchor="ctr"/>
          <a:lstStyle/>
          <a:p>
            <a:pPr indent="0" marL="0">
              <a:buNone/>
            </a:pPr>
            <a:r>
              <a:rPr lang="en-US" sz="1400" b="1" dirty="0">
                <a:solidFill>
                  <a:schemeClr val="tx2"/>
                </a:solidFill>
              </a:rPr>
              <a:t>CLAHE  </a:t>
            </a:r>
            <a:pPr indent="0" marL="0">
              <a:buNone/>
            </a:pPr>
            <a:r>
              <a:rPr lang="en-US" sz="1400" dirty="0">
                <a:solidFill>
                  <a:schemeClr val="tx1"/>
                </a:solidFill>
              </a:rPr>
              <a:t>boosts local contrast but barely brightens, so it stays far from the reference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Discussion and limitations</a:t>
            </a:r>
            <a:endParaRPr lang="en-US" sz="3200" dirty="0"/>
          </a:p>
        </p:txBody>
      </p:sp>
      <p:sp>
        <p:nvSpPr>
          <p:cNvPr id="3" name="Shape 1"/>
          <p:cNvSpPr/>
          <p:nvPr/>
        </p:nvSpPr>
        <p:spPr>
          <a:xfrm>
            <a:off x="548640" y="1463040"/>
            <a:ext cx="5422392" cy="4572000"/>
          </a:xfrm>
          <a:prstGeom prst="roundRect">
            <a:avLst>
              <a:gd name="adj" fmla="val 1600"/>
            </a:avLst>
          </a:prstGeom>
          <a:solidFill>
            <a:schemeClr val="bg2"/>
          </a:solidFill>
          <a:ln w="12700">
            <a:solidFill>
              <a:schemeClr val="bg2"/>
            </a:solidFill>
            <a:prstDash val="solid"/>
          </a:ln>
        </p:spPr>
      </p:sp>
      <p:sp>
        <p:nvSpPr>
          <p:cNvPr id="4" name="Text 2"/>
          <p:cNvSpPr txBox="1"/>
          <p:nvPr/>
        </p:nvSpPr>
        <p:spPr>
          <a:xfrm>
            <a:off x="868680" y="1645920"/>
            <a:ext cx="4754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the results show</a:t>
            </a:r>
            <a:endParaRPr lang="en-US" sz="2000" dirty="0"/>
          </a:p>
        </p:txBody>
      </p:sp>
      <p:sp>
        <p:nvSpPr>
          <p:cNvPr id="5" name="Text 3"/>
          <p:cNvSpPr txBox="1"/>
          <p:nvPr/>
        </p:nvSpPr>
        <p:spPr>
          <a:xfrm>
            <a:off x="868680" y="2286000"/>
            <a:ext cx="4754880" cy="35661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chemeClr val="tx1"/>
                </a:solidFill>
              </a:rPr>
              <a:t>U-Net learns the mapping from data, so it handles brightness, colour and noise together</a:t>
            </a:r>
            <a:endParaRPr lang="en-US" sz="1600" dirty="0"/>
          </a:p>
          <a:p>
            <a:pPr marL="228600" indent="-228600">
              <a:spcAft>
                <a:spcPts val="1400"/>
              </a:spcAft>
              <a:buSzPct val="100000"/>
              <a:buChar char="•"/>
            </a:pPr>
            <a:r>
              <a:rPr lang="en-US" sz="1600" dirty="0">
                <a:solidFill>
                  <a:schemeClr val="tx1"/>
                </a:solidFill>
              </a:rPr>
              <a:t>Traditional methods need no training and run instantly, but depend on hand-tuned parameters</a:t>
            </a:r>
            <a:endParaRPr lang="en-US" sz="1600" dirty="0"/>
          </a:p>
          <a:p>
            <a:pPr marL="228600" indent="-228600">
              <a:spcAft>
                <a:spcPts val="1400"/>
              </a:spcAft>
              <a:buSzPct val="100000"/>
              <a:buChar char="•"/>
            </a:pPr>
            <a:r>
              <a:rPr lang="en-US" sz="1600" dirty="0">
                <a:solidFill>
                  <a:schemeClr val="tx1"/>
                </a:solidFill>
              </a:rPr>
              <a:t>PSNR and SSIM don't fully capture naturalness, noise or colour accuracy; visual inspection matters too</a:t>
            </a:r>
            <a:endParaRPr lang="en-US" sz="1600" dirty="0"/>
          </a:p>
        </p:txBody>
      </p:sp>
      <p:sp>
        <p:nvSpPr>
          <p:cNvPr id="6" name="Shape 4"/>
          <p:cNvSpPr/>
          <p:nvPr/>
        </p:nvSpPr>
        <p:spPr>
          <a:xfrm>
            <a:off x="6217920" y="1463040"/>
            <a:ext cx="5422392" cy="4572000"/>
          </a:xfrm>
          <a:prstGeom prst="roundRect">
            <a:avLst>
              <a:gd name="adj" fmla="val 1600"/>
            </a:avLst>
          </a:prstGeom>
          <a:solidFill>
            <a:schemeClr val="tx2"/>
          </a:solidFill>
          <a:ln w="12700">
            <a:solidFill>
              <a:schemeClr val="tx2"/>
            </a:solidFill>
            <a:prstDash val="solid"/>
          </a:ln>
        </p:spPr>
      </p:sp>
      <p:sp>
        <p:nvSpPr>
          <p:cNvPr id="7" name="Text 5"/>
          <p:cNvSpPr txBox="1"/>
          <p:nvPr/>
        </p:nvSpPr>
        <p:spPr>
          <a:xfrm>
            <a:off x="6537960" y="1645920"/>
            <a:ext cx="475488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Limitations</a:t>
            </a:r>
            <a:endParaRPr lang="en-US" sz="2000" dirty="0"/>
          </a:p>
        </p:txBody>
      </p:sp>
      <p:sp>
        <p:nvSpPr>
          <p:cNvPr id="8" name="Text 6"/>
          <p:cNvSpPr txBox="1"/>
          <p:nvPr/>
        </p:nvSpPr>
        <p:spPr>
          <a:xfrm>
            <a:off x="6537960" y="2286000"/>
            <a:ext cx="4754880" cy="356616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chemeClr val="bg1"/>
                </a:solidFill>
              </a:rPr>
              <a:t>Small test set (15 images): small differences between methods may not be significant</a:t>
            </a:r>
            <a:endParaRPr lang="en-US" sz="1600" dirty="0"/>
          </a:p>
          <a:p>
            <a:pPr marL="228600" indent="-228600">
              <a:spcAft>
                <a:spcPts val="1400"/>
              </a:spcAft>
              <a:buSzPct val="100000"/>
              <a:buChar char="•"/>
            </a:pPr>
            <a:r>
              <a:rPr lang="en-US" sz="1600" dirty="0">
                <a:solidFill>
                  <a:schemeClr val="bg1"/>
                </a:solidFill>
              </a:rPr>
              <a:t>LOL is mostly indoor scenes; results on outdoor or night photos may differ</a:t>
            </a:r>
            <a:endParaRPr lang="en-US" sz="1600" dirty="0"/>
          </a:p>
          <a:p>
            <a:pPr marL="228600" indent="-228600">
              <a:spcAft>
                <a:spcPts val="1400"/>
              </a:spcAft>
              <a:buSzPct val="100000"/>
              <a:buChar char="•"/>
            </a:pPr>
            <a:r>
              <a:rPr lang="en-US" sz="1600" dirty="0">
                <a:solidFill>
                  <a:schemeClr val="bg1"/>
                </a:solidFill>
              </a:rPr>
              <a:t>Best checkpoint chosen by training loss, not a separate validation set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548640"/>
            <a:ext cx="731520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600200"/>
            <a:ext cx="3474720" cy="14630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18.31 dB</a:t>
            </a:r>
            <a:endParaRPr lang="en-US" sz="4400" dirty="0"/>
          </a:p>
          <a:p>
            <a:pPr indent="0" marL="0">
              <a:buNone/>
            </a:pPr>
            <a:r>
              <a:rPr lang="en-US" sz="1500" dirty="0">
                <a:solidFill>
                  <a:schemeClr val="accent4"/>
                </a:solidFill>
              </a:rPr>
              <a:t>U-Net PSNR</a:t>
            </a:r>
            <a:endParaRPr lang="en-US" sz="4400" dirty="0"/>
          </a:p>
        </p:txBody>
      </p:sp>
      <p:sp>
        <p:nvSpPr>
          <p:cNvPr id="4" name="Text 2"/>
          <p:cNvSpPr txBox="1"/>
          <p:nvPr/>
        </p:nvSpPr>
        <p:spPr>
          <a:xfrm>
            <a:off x="4297680" y="1600200"/>
            <a:ext cx="3474720" cy="14630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0.7797</a:t>
            </a:r>
            <a:endParaRPr lang="en-US" sz="4400" dirty="0"/>
          </a:p>
          <a:p>
            <a:pPr indent="0" marL="0">
              <a:buNone/>
            </a:pPr>
            <a:r>
              <a:rPr lang="en-US" sz="1500" dirty="0">
                <a:solidFill>
                  <a:schemeClr val="accent4"/>
                </a:solidFill>
              </a:rPr>
              <a:t>U-Net SSIM</a:t>
            </a:r>
            <a:endParaRPr lang="en-US" sz="4400" dirty="0"/>
          </a:p>
        </p:txBody>
      </p:sp>
      <p:sp>
        <p:nvSpPr>
          <p:cNvPr id="5" name="Text 3"/>
          <p:cNvSpPr txBox="1"/>
          <p:nvPr/>
        </p:nvSpPr>
        <p:spPr>
          <a:xfrm>
            <a:off x="8046720" y="1600200"/>
            <a:ext cx="3474720" cy="14630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6</a:t>
            </a:r>
            <a:endParaRPr lang="en-US" sz="4400" dirty="0"/>
          </a:p>
          <a:p>
            <a:pPr indent="0" marL="0">
              <a:buNone/>
            </a:pPr>
            <a:r>
              <a:rPr lang="en-US" sz="1500" dirty="0">
                <a:solidFill>
                  <a:schemeClr val="accent4"/>
                </a:solidFill>
              </a:rPr>
              <a:t>methods compared</a:t>
            </a:r>
            <a:endParaRPr lang="en-US" sz="4400" dirty="0"/>
          </a:p>
        </p:txBody>
      </p:sp>
      <p:sp>
        <p:nvSpPr>
          <p:cNvPr id="6" name="Text 4"/>
          <p:cNvSpPr txBox="1"/>
          <p:nvPr/>
        </p:nvSpPr>
        <p:spPr>
          <a:xfrm>
            <a:off x="548640" y="3566160"/>
            <a:ext cx="11064240" cy="237744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bg1"/>
                </a:solidFill>
              </a:rPr>
              <a:t>Compared five traditional techniques with a U-Net on LOL-v1; the U-Net is best on both metrics</a:t>
            </a:r>
            <a:endParaRPr lang="en-US" sz="1800" dirty="0"/>
          </a:p>
          <a:p>
            <a:pPr marL="228600" indent="-228600">
              <a:spcAft>
                <a:spcPts val="1200"/>
              </a:spcAft>
              <a:buSzPct val="100000"/>
              <a:buChar char="•"/>
            </a:pPr>
            <a:r>
              <a:rPr lang="en-US" sz="1800" dirty="0">
                <a:solidFill>
                  <a:schemeClr val="bg1"/>
                </a:solidFill>
              </a:rPr>
              <a:t>Among traditional methods, Retinex-based approaches are strongest</a:t>
            </a:r>
            <a:endParaRPr lang="en-US" sz="1800" dirty="0"/>
          </a:p>
          <a:p>
            <a:pPr marL="228600" indent="-228600">
              <a:spcAft>
                <a:spcPts val="1200"/>
              </a:spcAft>
              <a:buSzPct val="100000"/>
              <a:buChar char="•"/>
            </a:pPr>
            <a:r>
              <a:rPr lang="en-US" sz="1800" dirty="0">
                <a:solidFill>
                  <a:schemeClr val="bg1"/>
                </a:solidFill>
              </a:rPr>
              <a:t>Future work: more diverse training data, more datasets (e.g. LOL-v2), extra quality measures, faster inference for real-time use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103120"/>
            <a:ext cx="11064240" cy="1097280"/>
          </a:xfrm>
          <a:prstGeom prst="rect">
            <a:avLst/>
          </a:prstGeom>
          <a:noFill/>
          <a:ln/>
        </p:spPr>
        <p:txBody>
          <a:bodyPr wrap="square" lIns="0" tIns="0" rIns="0" bIns="0" rtlCol="0" anchor="ctr"/>
          <a:lstStyle/>
          <a:p>
            <a:pPr algn="ct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3200400"/>
            <a:ext cx="11064240" cy="640080"/>
          </a:xfrm>
          <a:prstGeom prst="rect">
            <a:avLst/>
          </a:prstGeom>
          <a:noFill/>
          <a:ln/>
        </p:spPr>
        <p:txBody>
          <a:bodyPr wrap="square" lIns="0" tIns="0" rIns="0" bIns="0" rtlCol="0" anchor="ctr"/>
          <a:lstStyle/>
          <a:p>
            <a:pPr algn="ctr" indent="0" marL="0">
              <a:buNone/>
            </a:pPr>
            <a:r>
              <a:rPr lang="en-US" sz="2600" dirty="0">
                <a:solidFill>
                  <a:schemeClr val="accent1"/>
                </a:solidFill>
              </a:rPr>
              <a:t>Questions?</a:t>
            </a:r>
            <a:endParaRPr lang="en-US" sz="2600" dirty="0"/>
          </a:p>
        </p:txBody>
      </p:sp>
      <p:sp>
        <p:nvSpPr>
          <p:cNvPr id="4" name="Text 2"/>
          <p:cNvSpPr txBox="1"/>
          <p:nvPr/>
        </p:nvSpPr>
        <p:spPr>
          <a:xfrm>
            <a:off x="548640" y="4754880"/>
            <a:ext cx="11064240" cy="457200"/>
          </a:xfrm>
          <a:prstGeom prst="rect">
            <a:avLst/>
          </a:prstGeom>
          <a:noFill/>
          <a:ln/>
        </p:spPr>
        <p:txBody>
          <a:bodyPr wrap="square" lIns="0" tIns="0" rIns="0" bIns="0" rtlCol="0" anchor="ctr"/>
          <a:lstStyle/>
          <a:p>
            <a:pPr algn="ctr" indent="0" marL="0">
              <a:buNone/>
            </a:pPr>
            <a:r>
              <a:rPr lang="en-US" sz="1500" dirty="0">
                <a:solidFill>
                  <a:schemeClr val="accent4"/>
                </a:solidFill>
              </a:rPr>
              <a:t>Shreshtha Ojha   ·   Singireddy Amulya Reddy   ·   Swati   ·   Sweta Sachan</a:t>
            </a:r>
            <a:endParaRPr lang="en-US" sz="1500" dirty="0"/>
          </a:p>
        </p:txBody>
      </p:sp>
    </p:spTree>
  </p:cSld>
  <p:clrMapOvr>
    <a:masterClrMapping/>
  </p:clrMapOvr>
</p:sld>
</file>

<file path=ppt/theme/theme1.xml><?xml version="1.0" encoding="utf-8"?>
<a:theme xmlns:a="http://schemas.openxmlformats.org/drawingml/2006/main" name="Low Light">
  <a:themeElements>
    <a:clrScheme name="Low Light">
      <a:dk1>
        <a:srgbClr val="1B2333"/>
      </a:dk1>
      <a:lt1>
        <a:srgbClr val="FFFFFF"/>
      </a:lt1>
      <a:dk2>
        <a:srgbClr val="0F1A2E"/>
      </a:dk2>
      <a:lt2>
        <a:srgbClr val="EEF2F7"/>
      </a:lt2>
      <a:accent1>
        <a:srgbClr val="F2A93B"/>
      </a:accent1>
      <a:accent2>
        <a:srgbClr val="1E3557"/>
      </a:accent2>
      <a:accent3>
        <a:srgbClr val="4A6FA5"/>
      </a:accent3>
      <a:accent4>
        <a:srgbClr val="8FA9CC"/>
      </a:accent4>
      <a:accent5>
        <a:srgbClr val="5B6577"/>
      </a:accent5>
      <a:accent6>
        <a:srgbClr val="D9822B"/>
      </a:accent6>
      <a:hlink>
        <a:srgbClr val="1E3557"/>
      </a:hlink>
      <a:folHlink>
        <a:srgbClr val="4A6FA5"/>
      </a:folHlink>
    </a:clrScheme>
    <a:fontScheme name="Low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Low-Light Image Enhancement using Spatial and Intensity-Based Techniques</dc:title>
  <dc:subject>PptxGenJS Presentation</dc:subject>
  <dc:creator>PptxGenJS</dc:creator>
  <cp:lastModifiedBy>PptxGenJS</cp:lastModifiedBy>
  <cp:revision>1</cp:revision>
  <dcterms:created xsi:type="dcterms:W3CDTF">2026-10-28T18:53:37Z</dcterms:created>
  <dcterms:modified xsi:type="dcterms:W3CDTF">2026-10-28T18:53:37Z</dcterms:modified>
</cp:coreProperties>
</file>